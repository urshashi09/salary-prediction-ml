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mo" panose="020B0604020202020204" charset="0"/>
      <p:regular r:id="rId13"/>
    </p:embeddedFont>
    <p:embeddedFont>
      <p:font typeface="Arimo Bold" panose="020B0604020202020204" charset="0"/>
      <p:regular r:id="rId14"/>
    </p:embeddedFont>
    <p:embeddedFont>
      <p:font typeface="Arimo Italics"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109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1131034" y="1963740"/>
            <a:ext cx="9904940" cy="1789110"/>
          </a:xfrm>
          <a:prstGeom prst="rect">
            <a:avLst/>
          </a:prstGeom>
        </p:spPr>
        <p:txBody>
          <a:bodyPr lIns="0" tIns="0" rIns="0" bIns="0" rtlCol="0" anchor="t">
            <a:spAutoFit/>
          </a:bodyPr>
          <a:lstStyle/>
          <a:p>
            <a:pPr algn="l">
              <a:lnSpc>
                <a:spcPts val="6810"/>
              </a:lnSpc>
            </a:pPr>
            <a:r>
              <a:rPr lang="en-US" sz="6626" b="1">
                <a:solidFill>
                  <a:srgbClr val="373B48"/>
                </a:solidFill>
                <a:latin typeface="Arimo Bold"/>
                <a:ea typeface="Arimo Bold"/>
                <a:cs typeface="Arimo Bold"/>
                <a:sym typeface="Arimo Bold"/>
              </a:rPr>
              <a:t>Salary Prediction Using Linear Regression</a:t>
            </a:r>
          </a:p>
        </p:txBody>
      </p:sp>
      <p:sp>
        <p:nvSpPr>
          <p:cNvPr id="11" name="TextBox 11"/>
          <p:cNvSpPr txBox="1"/>
          <p:nvPr/>
        </p:nvSpPr>
        <p:spPr>
          <a:xfrm>
            <a:off x="1061636" y="5191125"/>
            <a:ext cx="9584322" cy="537870"/>
          </a:xfrm>
          <a:prstGeom prst="rect">
            <a:avLst/>
          </a:prstGeom>
        </p:spPr>
        <p:txBody>
          <a:bodyPr lIns="0" tIns="0" rIns="0" bIns="0" rtlCol="0" anchor="t">
            <a:spAutoFit/>
          </a:bodyPr>
          <a:lstStyle/>
          <a:p>
            <a:pPr algn="l">
              <a:lnSpc>
                <a:spcPts val="3969"/>
              </a:lnSpc>
            </a:pPr>
            <a:r>
              <a:rPr lang="en-US" sz="3899">
                <a:solidFill>
                  <a:srgbClr val="52586B"/>
                </a:solidFill>
                <a:latin typeface="Arimo"/>
                <a:ea typeface="Arimo"/>
                <a:cs typeface="Arimo"/>
                <a:sym typeface="Arimo"/>
              </a:rPr>
              <a:t>Presented by: </a:t>
            </a:r>
            <a:r>
              <a:rPr lang="en-US" sz="3899" b="1">
                <a:solidFill>
                  <a:srgbClr val="52586B"/>
                </a:solidFill>
                <a:latin typeface="Arimo Bold"/>
                <a:ea typeface="Arimo Bold"/>
                <a:cs typeface="Arimo Bold"/>
                <a:sym typeface="Arimo Bold"/>
              </a:rPr>
              <a:t>URSHASHI MAJUMDER</a:t>
            </a:r>
          </a:p>
        </p:txBody>
      </p:sp>
      <p:sp>
        <p:nvSpPr>
          <p:cNvPr id="12" name="TextBox 12"/>
          <p:cNvSpPr txBox="1"/>
          <p:nvPr/>
        </p:nvSpPr>
        <p:spPr>
          <a:xfrm>
            <a:off x="1061636" y="6935367"/>
            <a:ext cx="9445526" cy="769445"/>
          </a:xfrm>
          <a:prstGeom prst="rect">
            <a:avLst/>
          </a:prstGeom>
        </p:spPr>
        <p:txBody>
          <a:bodyPr lIns="0" tIns="0" rIns="0" bIns="0" rtlCol="0" anchor="t">
            <a:spAutoFit/>
          </a:bodyPr>
          <a:lstStyle/>
          <a:p>
            <a:pPr algn="l">
              <a:lnSpc>
                <a:spcPts val="6331"/>
              </a:lnSpc>
            </a:pPr>
            <a:r>
              <a:rPr lang="en-US" sz="3887">
                <a:solidFill>
                  <a:srgbClr val="52586B"/>
                </a:solidFill>
                <a:latin typeface="Arimo"/>
                <a:ea typeface="Arimo"/>
                <a:cs typeface="Arimo"/>
                <a:sym typeface="Arimo"/>
              </a:rPr>
              <a:t>Guided by: HIMANSHU SOUDA</a:t>
            </a:r>
          </a:p>
        </p:txBody>
      </p:sp>
      <p:sp>
        <p:nvSpPr>
          <p:cNvPr id="13" name="TextBox 13"/>
          <p:cNvSpPr txBox="1"/>
          <p:nvPr/>
        </p:nvSpPr>
        <p:spPr>
          <a:xfrm>
            <a:off x="1028700" y="6083854"/>
            <a:ext cx="7068086" cy="658579"/>
          </a:xfrm>
          <a:prstGeom prst="rect">
            <a:avLst/>
          </a:prstGeom>
        </p:spPr>
        <p:txBody>
          <a:bodyPr lIns="0" tIns="0" rIns="0" bIns="0" rtlCol="0" anchor="t">
            <a:spAutoFit/>
          </a:bodyPr>
          <a:lstStyle/>
          <a:p>
            <a:pPr algn="l">
              <a:lnSpc>
                <a:spcPts val="4800"/>
              </a:lnSpc>
            </a:pPr>
            <a:r>
              <a:rPr lang="en-US" sz="4000">
                <a:solidFill>
                  <a:srgbClr val="52586B"/>
                </a:solidFill>
                <a:latin typeface="Arimo"/>
                <a:ea typeface="Arimo"/>
                <a:cs typeface="Arimo"/>
                <a:sym typeface="Arimo"/>
              </a:rPr>
              <a:t>Techno India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92238" y="1388269"/>
            <a:ext cx="11112104" cy="943124"/>
          </a:xfrm>
          <a:prstGeom prst="rect">
            <a:avLst/>
          </a:prstGeom>
        </p:spPr>
        <p:txBody>
          <a:bodyPr lIns="0" tIns="0" rIns="0" bIns="0" rtlCol="0" anchor="t">
            <a:spAutoFit/>
          </a:bodyPr>
          <a:lstStyle/>
          <a:p>
            <a:pPr algn="l">
              <a:lnSpc>
                <a:spcPts val="6937"/>
              </a:lnSpc>
            </a:pPr>
            <a:r>
              <a:rPr lang="en-US" sz="5562" b="1">
                <a:solidFill>
                  <a:srgbClr val="373B48"/>
                </a:solidFill>
                <a:latin typeface="Arimo Bold"/>
                <a:ea typeface="Arimo Bold"/>
                <a:cs typeface="Arimo Bold"/>
                <a:sym typeface="Arimo Bold"/>
              </a:rPr>
              <a:t>Introduction to Salary Prediction</a:t>
            </a:r>
          </a:p>
        </p:txBody>
      </p:sp>
      <p:sp>
        <p:nvSpPr>
          <p:cNvPr id="7" name="TextBox 7"/>
          <p:cNvSpPr txBox="1"/>
          <p:nvPr/>
        </p:nvSpPr>
        <p:spPr>
          <a:xfrm>
            <a:off x="1028700" y="2603863"/>
            <a:ext cx="16951445" cy="1520987"/>
          </a:xfrm>
          <a:prstGeom prst="rect">
            <a:avLst/>
          </a:prstGeom>
        </p:spPr>
        <p:txBody>
          <a:bodyPr lIns="0" tIns="0" rIns="0" bIns="0" rtlCol="0" anchor="t">
            <a:spAutoFit/>
          </a:bodyPr>
          <a:lstStyle/>
          <a:p>
            <a:pPr algn="l">
              <a:lnSpc>
                <a:spcPts val="4076"/>
              </a:lnSpc>
            </a:pPr>
            <a:r>
              <a:rPr lang="en-US" sz="2503">
                <a:solidFill>
                  <a:srgbClr val="52586B"/>
                </a:solidFill>
                <a:latin typeface="Arimo"/>
                <a:ea typeface="Arimo"/>
                <a:cs typeface="Arimo"/>
                <a:sym typeface="Arimo"/>
              </a:rPr>
              <a:t>This project aims to predict employee salaries using machine learning techniques, focusing on the powerful yet interpretable Multiple Linear Regression model. We delve into key features influencing salary, from age and education to years of experience, providing a comprehensive workflow from data preprocessing to model deployment.</a:t>
            </a:r>
          </a:p>
        </p:txBody>
      </p:sp>
      <p:sp>
        <p:nvSpPr>
          <p:cNvPr id="8" name="Freeform 8" descr="preencoded.png"/>
          <p:cNvSpPr/>
          <p:nvPr/>
        </p:nvSpPr>
        <p:spPr>
          <a:xfrm>
            <a:off x="1028700" y="4611961"/>
            <a:ext cx="1063079" cy="1063079"/>
          </a:xfrm>
          <a:custGeom>
            <a:avLst/>
            <a:gdLst/>
            <a:ahLst/>
            <a:cxnLst/>
            <a:rect l="l" t="t" r="r" b="b"/>
            <a:pathLst>
              <a:path w="1063079" h="1063079">
                <a:moveTo>
                  <a:pt x="0" y="0"/>
                </a:moveTo>
                <a:lnTo>
                  <a:pt x="1063079" y="0"/>
                </a:lnTo>
                <a:lnTo>
                  <a:pt x="1063079" y="1063078"/>
                </a:lnTo>
                <a:lnTo>
                  <a:pt x="0" y="1063078"/>
                </a:lnTo>
                <a:lnTo>
                  <a:pt x="0" y="0"/>
                </a:lnTo>
                <a:close/>
              </a:path>
            </a:pathLst>
          </a:custGeom>
          <a:blipFill>
            <a:blip r:embed="rId4">
              <a:extLst>
                <a:ext uri="{96DAC541-7B7A-43D3-8B79-37D633B846F1}">
                  <asvg:svgBlip xmlns:asvg="http://schemas.microsoft.com/office/drawing/2016/SVG/main" r:embed="rId5"/>
                </a:ext>
              </a:extLst>
            </a:blip>
            <a:stretch>
              <a:fillRect l="-1999" r="-1999"/>
            </a:stretch>
          </a:blipFill>
        </p:spPr>
      </p:sp>
      <p:sp>
        <p:nvSpPr>
          <p:cNvPr id="9" name="TextBox 9"/>
          <p:cNvSpPr txBox="1"/>
          <p:nvPr/>
        </p:nvSpPr>
        <p:spPr>
          <a:xfrm>
            <a:off x="2461387" y="4666070"/>
            <a:ext cx="3544044" cy="494983"/>
          </a:xfrm>
          <a:prstGeom prst="rect">
            <a:avLst/>
          </a:prstGeom>
        </p:spPr>
        <p:txBody>
          <a:bodyPr lIns="0" tIns="0" rIns="0" bIns="0" rtlCol="0" anchor="t">
            <a:spAutoFit/>
          </a:bodyPr>
          <a:lstStyle/>
          <a:p>
            <a:pPr algn="l">
              <a:lnSpc>
                <a:spcPts val="3812"/>
              </a:lnSpc>
            </a:pPr>
            <a:r>
              <a:rPr lang="en-US" sz="3049" b="1">
                <a:solidFill>
                  <a:srgbClr val="52586B"/>
                </a:solidFill>
                <a:latin typeface="Arimo Bold"/>
                <a:ea typeface="Arimo Bold"/>
                <a:cs typeface="Arimo Bold"/>
                <a:sym typeface="Arimo Bold"/>
              </a:rPr>
              <a:t>Age &amp; Gender</a:t>
            </a:r>
          </a:p>
        </p:txBody>
      </p:sp>
      <p:sp>
        <p:nvSpPr>
          <p:cNvPr id="10" name="TextBox 10"/>
          <p:cNvSpPr txBox="1"/>
          <p:nvPr/>
        </p:nvSpPr>
        <p:spPr>
          <a:xfrm>
            <a:off x="2549716" y="5235774"/>
            <a:ext cx="6911429" cy="530019"/>
          </a:xfrm>
          <a:prstGeom prst="rect">
            <a:avLst/>
          </a:prstGeom>
        </p:spPr>
        <p:txBody>
          <a:bodyPr lIns="0" tIns="0" rIns="0" bIns="0" rtlCol="0" anchor="t">
            <a:spAutoFit/>
          </a:bodyPr>
          <a:lstStyle/>
          <a:p>
            <a:pPr algn="l">
              <a:lnSpc>
                <a:spcPts val="4376"/>
              </a:lnSpc>
            </a:pPr>
            <a:r>
              <a:rPr lang="en-US" sz="2687">
                <a:solidFill>
                  <a:srgbClr val="52586B"/>
                </a:solidFill>
                <a:latin typeface="Arimo"/>
                <a:ea typeface="Arimo"/>
                <a:cs typeface="Arimo"/>
                <a:sym typeface="Arimo"/>
              </a:rPr>
              <a:t>Demographic factors</a:t>
            </a:r>
          </a:p>
        </p:txBody>
      </p:sp>
      <p:sp>
        <p:nvSpPr>
          <p:cNvPr id="11" name="Freeform 11" descr="preencoded.png"/>
          <p:cNvSpPr/>
          <p:nvPr/>
        </p:nvSpPr>
        <p:spPr>
          <a:xfrm>
            <a:off x="9144001" y="4702713"/>
            <a:ext cx="1063080" cy="1063080"/>
          </a:xfrm>
          <a:custGeom>
            <a:avLst/>
            <a:gdLst/>
            <a:ahLst/>
            <a:cxnLst/>
            <a:rect l="l" t="t" r="r" b="b"/>
            <a:pathLst>
              <a:path w="1063080" h="1063080">
                <a:moveTo>
                  <a:pt x="0" y="0"/>
                </a:moveTo>
                <a:lnTo>
                  <a:pt x="1063080" y="0"/>
                </a:lnTo>
                <a:lnTo>
                  <a:pt x="1063080" y="1063080"/>
                </a:lnTo>
                <a:lnTo>
                  <a:pt x="0" y="1063080"/>
                </a:lnTo>
                <a:lnTo>
                  <a:pt x="0" y="0"/>
                </a:lnTo>
                <a:close/>
              </a:path>
            </a:pathLst>
          </a:custGeom>
          <a:blipFill>
            <a:blip r:embed="rId6">
              <a:extLst>
                <a:ext uri="{96DAC541-7B7A-43D3-8B79-37D633B846F1}">
                  <asvg:svgBlip xmlns:asvg="http://schemas.microsoft.com/office/drawing/2016/SVG/main" r:embed="rId7"/>
                </a:ext>
              </a:extLst>
            </a:blip>
            <a:stretch>
              <a:fillRect l="-16666" r="-16666"/>
            </a:stretch>
          </a:blipFill>
          <a:ln cap="sq">
            <a:noFill/>
            <a:prstDash val="solid"/>
            <a:miter/>
          </a:ln>
        </p:spPr>
      </p:sp>
      <p:sp>
        <p:nvSpPr>
          <p:cNvPr id="12" name="TextBox 12"/>
          <p:cNvSpPr txBox="1"/>
          <p:nvPr/>
        </p:nvSpPr>
        <p:spPr>
          <a:xfrm>
            <a:off x="10384185" y="4708475"/>
            <a:ext cx="3544044" cy="494983"/>
          </a:xfrm>
          <a:prstGeom prst="rect">
            <a:avLst/>
          </a:prstGeom>
        </p:spPr>
        <p:txBody>
          <a:bodyPr lIns="0" tIns="0" rIns="0" bIns="0" rtlCol="0" anchor="t">
            <a:spAutoFit/>
          </a:bodyPr>
          <a:lstStyle/>
          <a:p>
            <a:pPr marL="0" lvl="0" indent="0" algn="l">
              <a:lnSpc>
                <a:spcPts val="3812"/>
              </a:lnSpc>
              <a:spcBef>
                <a:spcPct val="0"/>
              </a:spcBef>
            </a:pPr>
            <a:r>
              <a:rPr lang="en-US" sz="3049" b="1" u="none" strike="noStrike">
                <a:solidFill>
                  <a:srgbClr val="52586B"/>
                </a:solidFill>
                <a:latin typeface="Arimo Bold"/>
                <a:ea typeface="Arimo Bold"/>
                <a:cs typeface="Arimo Bold"/>
                <a:sym typeface="Arimo Bold"/>
              </a:rPr>
              <a:t>Education Level</a:t>
            </a:r>
          </a:p>
        </p:txBody>
      </p:sp>
      <p:sp>
        <p:nvSpPr>
          <p:cNvPr id="13" name="TextBox 13"/>
          <p:cNvSpPr txBox="1"/>
          <p:nvPr/>
        </p:nvSpPr>
        <p:spPr>
          <a:xfrm>
            <a:off x="10384185" y="5235774"/>
            <a:ext cx="6911579" cy="530020"/>
          </a:xfrm>
          <a:prstGeom prst="rect">
            <a:avLst/>
          </a:prstGeom>
        </p:spPr>
        <p:txBody>
          <a:bodyPr lIns="0" tIns="0" rIns="0" bIns="0" rtlCol="0" anchor="t">
            <a:spAutoFit/>
          </a:bodyPr>
          <a:lstStyle/>
          <a:p>
            <a:pPr marL="0" lvl="0" indent="0" algn="l">
              <a:lnSpc>
                <a:spcPts val="4376"/>
              </a:lnSpc>
              <a:spcBef>
                <a:spcPct val="0"/>
              </a:spcBef>
            </a:pPr>
            <a:r>
              <a:rPr lang="en-US" sz="2687" u="none" strike="noStrike">
                <a:solidFill>
                  <a:srgbClr val="52586B"/>
                </a:solidFill>
                <a:latin typeface="Arimo"/>
                <a:ea typeface="Arimo"/>
                <a:cs typeface="Arimo"/>
                <a:sym typeface="Arimo"/>
              </a:rPr>
              <a:t>Academic background</a:t>
            </a:r>
          </a:p>
        </p:txBody>
      </p:sp>
      <p:sp>
        <p:nvSpPr>
          <p:cNvPr id="14" name="Freeform 14" descr="preencoded.png"/>
          <p:cNvSpPr/>
          <p:nvPr/>
        </p:nvSpPr>
        <p:spPr>
          <a:xfrm>
            <a:off x="1180795" y="6541385"/>
            <a:ext cx="928167" cy="928167"/>
          </a:xfrm>
          <a:custGeom>
            <a:avLst/>
            <a:gdLst/>
            <a:ahLst/>
            <a:cxnLst/>
            <a:rect l="l" t="t" r="r" b="b"/>
            <a:pathLst>
              <a:path w="928167" h="928167">
                <a:moveTo>
                  <a:pt x="0" y="0"/>
                </a:moveTo>
                <a:lnTo>
                  <a:pt x="928167" y="0"/>
                </a:lnTo>
                <a:lnTo>
                  <a:pt x="928167" y="928167"/>
                </a:lnTo>
                <a:lnTo>
                  <a:pt x="0" y="928167"/>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5" name="TextBox 15"/>
          <p:cNvSpPr txBox="1"/>
          <p:nvPr/>
        </p:nvSpPr>
        <p:spPr>
          <a:xfrm>
            <a:off x="2461387" y="6468080"/>
            <a:ext cx="3544044" cy="494983"/>
          </a:xfrm>
          <a:prstGeom prst="rect">
            <a:avLst/>
          </a:prstGeom>
        </p:spPr>
        <p:txBody>
          <a:bodyPr lIns="0" tIns="0" rIns="0" bIns="0" rtlCol="0" anchor="t">
            <a:spAutoFit/>
          </a:bodyPr>
          <a:lstStyle/>
          <a:p>
            <a:pPr marL="0" lvl="0" indent="0" algn="l">
              <a:lnSpc>
                <a:spcPts val="3812"/>
              </a:lnSpc>
              <a:spcBef>
                <a:spcPct val="0"/>
              </a:spcBef>
            </a:pPr>
            <a:r>
              <a:rPr lang="en-US" sz="3049" b="1" u="none" strike="noStrike">
                <a:solidFill>
                  <a:srgbClr val="52586B"/>
                </a:solidFill>
                <a:latin typeface="Arimo Bold"/>
                <a:ea typeface="Arimo Bold"/>
                <a:cs typeface="Arimo Bold"/>
                <a:sym typeface="Arimo Bold"/>
              </a:rPr>
              <a:t>Job Title</a:t>
            </a:r>
          </a:p>
        </p:txBody>
      </p:sp>
      <p:sp>
        <p:nvSpPr>
          <p:cNvPr id="16" name="TextBox 16"/>
          <p:cNvSpPr txBox="1"/>
          <p:nvPr/>
        </p:nvSpPr>
        <p:spPr>
          <a:xfrm>
            <a:off x="2461387" y="7037785"/>
            <a:ext cx="6911429" cy="530020"/>
          </a:xfrm>
          <a:prstGeom prst="rect">
            <a:avLst/>
          </a:prstGeom>
        </p:spPr>
        <p:txBody>
          <a:bodyPr lIns="0" tIns="0" rIns="0" bIns="0" rtlCol="0" anchor="t">
            <a:spAutoFit/>
          </a:bodyPr>
          <a:lstStyle/>
          <a:p>
            <a:pPr marL="0" lvl="0" indent="0" algn="l">
              <a:lnSpc>
                <a:spcPts val="4376"/>
              </a:lnSpc>
              <a:spcBef>
                <a:spcPct val="0"/>
              </a:spcBef>
            </a:pPr>
            <a:r>
              <a:rPr lang="en-US" sz="2687" u="none" strike="noStrike">
                <a:solidFill>
                  <a:srgbClr val="52586B"/>
                </a:solidFill>
                <a:latin typeface="Arimo"/>
                <a:ea typeface="Arimo"/>
                <a:cs typeface="Arimo"/>
                <a:sym typeface="Arimo"/>
              </a:rPr>
              <a:t>Professional role</a:t>
            </a:r>
          </a:p>
        </p:txBody>
      </p:sp>
      <p:sp>
        <p:nvSpPr>
          <p:cNvPr id="17" name="Freeform 17" descr="preencoded.png"/>
          <p:cNvSpPr/>
          <p:nvPr/>
        </p:nvSpPr>
        <p:spPr>
          <a:xfrm>
            <a:off x="9274418" y="6548586"/>
            <a:ext cx="932663" cy="932663"/>
          </a:xfrm>
          <a:custGeom>
            <a:avLst/>
            <a:gdLst/>
            <a:ahLst/>
            <a:cxnLst/>
            <a:rect l="l" t="t" r="r" b="b"/>
            <a:pathLst>
              <a:path w="932663" h="932663">
                <a:moveTo>
                  <a:pt x="0" y="0"/>
                </a:moveTo>
                <a:lnTo>
                  <a:pt x="932663" y="0"/>
                </a:lnTo>
                <a:lnTo>
                  <a:pt x="932663" y="932663"/>
                </a:lnTo>
                <a:lnTo>
                  <a:pt x="0" y="93266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8" name="TextBox 18"/>
          <p:cNvSpPr txBox="1"/>
          <p:nvPr/>
        </p:nvSpPr>
        <p:spPr>
          <a:xfrm>
            <a:off x="10384185" y="6510486"/>
            <a:ext cx="4796095" cy="494983"/>
          </a:xfrm>
          <a:prstGeom prst="rect">
            <a:avLst/>
          </a:prstGeom>
        </p:spPr>
        <p:txBody>
          <a:bodyPr lIns="0" tIns="0" rIns="0" bIns="0" rtlCol="0" anchor="t">
            <a:spAutoFit/>
          </a:bodyPr>
          <a:lstStyle/>
          <a:p>
            <a:pPr marL="0" lvl="0" indent="0" algn="l">
              <a:lnSpc>
                <a:spcPts val="3812"/>
              </a:lnSpc>
              <a:spcBef>
                <a:spcPct val="0"/>
              </a:spcBef>
            </a:pPr>
            <a:r>
              <a:rPr lang="en-US" sz="3049" b="1" u="none" strike="noStrike">
                <a:solidFill>
                  <a:srgbClr val="52586B"/>
                </a:solidFill>
                <a:latin typeface="Arimo Bold"/>
                <a:ea typeface="Arimo Bold"/>
                <a:cs typeface="Arimo Bold"/>
                <a:sym typeface="Arimo Bold"/>
              </a:rPr>
              <a:t>Years of Experience</a:t>
            </a:r>
          </a:p>
        </p:txBody>
      </p:sp>
      <p:sp>
        <p:nvSpPr>
          <p:cNvPr id="19" name="TextBox 19"/>
          <p:cNvSpPr txBox="1"/>
          <p:nvPr/>
        </p:nvSpPr>
        <p:spPr>
          <a:xfrm>
            <a:off x="10384185" y="7037785"/>
            <a:ext cx="6911579" cy="530020"/>
          </a:xfrm>
          <a:prstGeom prst="rect">
            <a:avLst/>
          </a:prstGeom>
        </p:spPr>
        <p:txBody>
          <a:bodyPr lIns="0" tIns="0" rIns="0" bIns="0" rtlCol="0" anchor="t">
            <a:spAutoFit/>
          </a:bodyPr>
          <a:lstStyle/>
          <a:p>
            <a:pPr marL="0" lvl="0" indent="0" algn="l">
              <a:lnSpc>
                <a:spcPts val="4376"/>
              </a:lnSpc>
              <a:spcBef>
                <a:spcPct val="0"/>
              </a:spcBef>
            </a:pPr>
            <a:r>
              <a:rPr lang="en-US" sz="2687" u="none" strike="noStrike">
                <a:solidFill>
                  <a:srgbClr val="52586B"/>
                </a:solidFill>
                <a:latin typeface="Arimo"/>
                <a:ea typeface="Arimo"/>
                <a:cs typeface="Arimo"/>
                <a:sym typeface="Arimo"/>
              </a:rPr>
              <a:t>Professional tenure</a:t>
            </a:r>
          </a:p>
        </p:txBody>
      </p:sp>
      <p:sp>
        <p:nvSpPr>
          <p:cNvPr id="20" name="TextBox 20"/>
          <p:cNvSpPr txBox="1"/>
          <p:nvPr/>
        </p:nvSpPr>
        <p:spPr>
          <a:xfrm>
            <a:off x="992237" y="7829401"/>
            <a:ext cx="16303526" cy="946458"/>
          </a:xfrm>
          <a:prstGeom prst="rect">
            <a:avLst/>
          </a:prstGeom>
        </p:spPr>
        <p:txBody>
          <a:bodyPr lIns="0" tIns="0" rIns="0" bIns="0" rtlCol="0" anchor="t">
            <a:spAutoFit/>
          </a:bodyPr>
          <a:lstStyle/>
          <a:p>
            <a:pPr algn="l">
              <a:lnSpc>
                <a:spcPts val="3888"/>
              </a:lnSpc>
            </a:pPr>
            <a:r>
              <a:rPr lang="en-US" sz="2387">
                <a:solidFill>
                  <a:srgbClr val="52586B"/>
                </a:solidFill>
                <a:latin typeface="Arimo"/>
                <a:ea typeface="Arimo"/>
                <a:cs typeface="Arimo"/>
                <a:sym typeface="Arimo"/>
              </a:rPr>
              <a:t>Our workflow encompassed data preprocessing, exploratory data analysis (EDA), model development, and prediction, all executed using a robust suite of Python tools.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992238" y="1549599"/>
            <a:ext cx="9445526" cy="1829097"/>
          </a:xfrm>
          <a:prstGeom prst="rect">
            <a:avLst/>
          </a:prstGeom>
        </p:spPr>
        <p:txBody>
          <a:bodyPr lIns="0" tIns="0" rIns="0" bIns="0" rtlCol="0" anchor="t">
            <a:spAutoFit/>
          </a:bodyPr>
          <a:lstStyle/>
          <a:p>
            <a:pPr algn="l">
              <a:lnSpc>
                <a:spcPts val="6937"/>
              </a:lnSpc>
            </a:pPr>
            <a:r>
              <a:rPr lang="en-US" sz="5562" b="1">
                <a:solidFill>
                  <a:srgbClr val="373B48"/>
                </a:solidFill>
                <a:latin typeface="Arimo Bold"/>
                <a:ea typeface="Arimo Bold"/>
                <a:cs typeface="Arimo Bold"/>
                <a:sym typeface="Arimo Bold"/>
              </a:rPr>
              <a:t>The Power of Linear Regression</a:t>
            </a:r>
          </a:p>
        </p:txBody>
      </p:sp>
      <p:sp>
        <p:nvSpPr>
          <p:cNvPr id="11" name="TextBox 11"/>
          <p:cNvSpPr txBox="1"/>
          <p:nvPr/>
        </p:nvSpPr>
        <p:spPr>
          <a:xfrm>
            <a:off x="992238" y="3699123"/>
            <a:ext cx="9445526" cy="1919287"/>
          </a:xfrm>
          <a:prstGeom prst="rect">
            <a:avLst/>
          </a:prstGeom>
        </p:spPr>
        <p:txBody>
          <a:bodyPr lIns="0" tIns="0" rIns="0" bIns="0" rtlCol="0" anchor="t">
            <a:spAutoFit/>
          </a:bodyPr>
          <a:lstStyle/>
          <a:p>
            <a:pPr algn="l">
              <a:lnSpc>
                <a:spcPts val="3562"/>
              </a:lnSpc>
            </a:pPr>
            <a:r>
              <a:rPr lang="en-US" sz="2187">
                <a:solidFill>
                  <a:srgbClr val="52586B"/>
                </a:solidFill>
                <a:latin typeface="Arimo"/>
                <a:ea typeface="Arimo"/>
                <a:cs typeface="Arimo"/>
                <a:sym typeface="Arimo"/>
              </a:rPr>
              <a:t>Linear Regression is a fundamental statistical method that models the linear relationship between input features and a continuous output variable, in this case, salary. It helps us understand how each contributing factor influences the predicted salary.</a:t>
            </a:r>
          </a:p>
        </p:txBody>
      </p:sp>
      <p:grpSp>
        <p:nvGrpSpPr>
          <p:cNvPr id="12" name="Group 12"/>
          <p:cNvGrpSpPr>
            <a:grpSpLocks noChangeAspect="1"/>
          </p:cNvGrpSpPr>
          <p:nvPr/>
        </p:nvGrpSpPr>
        <p:grpSpPr>
          <a:xfrm>
            <a:off x="992238" y="5977235"/>
            <a:ext cx="9445526" cy="983159"/>
            <a:chOff x="0" y="0"/>
            <a:chExt cx="12594035" cy="1310878"/>
          </a:xfrm>
        </p:grpSpPr>
        <p:sp>
          <p:nvSpPr>
            <p:cNvPr id="13" name="Freeform 13" descr="preencoded.png"/>
            <p:cNvSpPr/>
            <p:nvPr/>
          </p:nvSpPr>
          <p:spPr>
            <a:xfrm>
              <a:off x="0" y="0"/>
              <a:ext cx="12594082" cy="1310894"/>
            </a:xfrm>
            <a:custGeom>
              <a:avLst/>
              <a:gdLst/>
              <a:ahLst/>
              <a:cxnLst/>
              <a:rect l="l" t="t" r="r" b="b"/>
              <a:pathLst>
                <a:path w="12594082" h="1310894">
                  <a:moveTo>
                    <a:pt x="0" y="0"/>
                  </a:moveTo>
                  <a:lnTo>
                    <a:pt x="12594082" y="0"/>
                  </a:lnTo>
                  <a:lnTo>
                    <a:pt x="12594082" y="1310894"/>
                  </a:lnTo>
                  <a:lnTo>
                    <a:pt x="0" y="1310894"/>
                  </a:lnTo>
                  <a:lnTo>
                    <a:pt x="0" y="0"/>
                  </a:lnTo>
                  <a:close/>
                </a:path>
              </a:pathLst>
            </a:custGeom>
            <a:blipFill>
              <a:blip r:embed="rId7"/>
              <a:stretch>
                <a:fillRect t="-360" b="-359"/>
              </a:stretch>
            </a:blipFill>
          </p:spPr>
        </p:sp>
      </p:grpSp>
      <p:sp>
        <p:nvSpPr>
          <p:cNvPr id="14" name="TextBox 14"/>
          <p:cNvSpPr txBox="1"/>
          <p:nvPr/>
        </p:nvSpPr>
        <p:spPr>
          <a:xfrm>
            <a:off x="992238" y="7214444"/>
            <a:ext cx="9445526" cy="1465660"/>
          </a:xfrm>
          <a:prstGeom prst="rect">
            <a:avLst/>
          </a:prstGeom>
        </p:spPr>
        <p:txBody>
          <a:bodyPr lIns="0" tIns="0" rIns="0" bIns="0" rtlCol="0" anchor="t">
            <a:spAutoFit/>
          </a:bodyPr>
          <a:lstStyle/>
          <a:p>
            <a:pPr algn="l">
              <a:lnSpc>
                <a:spcPts val="3562"/>
              </a:lnSpc>
            </a:pPr>
            <a:r>
              <a:rPr lang="en-US" sz="2187">
                <a:solidFill>
                  <a:srgbClr val="52586B"/>
                </a:solidFill>
                <a:latin typeface="Arimo"/>
                <a:ea typeface="Arimo"/>
                <a:cs typeface="Arimo"/>
                <a:sym typeface="Arimo"/>
              </a:rPr>
              <a:t>Here, </a:t>
            </a:r>
            <a:r>
              <a:rPr lang="en-US" sz="2187" i="1">
                <a:solidFill>
                  <a:srgbClr val="52586B"/>
                </a:solidFill>
                <a:latin typeface="Arimo Italics"/>
                <a:ea typeface="Arimo Italics"/>
                <a:cs typeface="Arimo Italics"/>
                <a:sym typeface="Arimo Italics"/>
              </a:rPr>
              <a:t>b₀</a:t>
            </a:r>
            <a:r>
              <a:rPr lang="en-US" sz="2187">
                <a:solidFill>
                  <a:srgbClr val="52586B"/>
                </a:solidFill>
                <a:latin typeface="Arimo"/>
                <a:ea typeface="Arimo"/>
                <a:cs typeface="Arimo"/>
                <a:sym typeface="Arimo"/>
              </a:rPr>
              <a:t> represents the intercept, and </a:t>
            </a:r>
            <a:r>
              <a:rPr lang="en-US" sz="2187" i="1">
                <a:solidFill>
                  <a:srgbClr val="52586B"/>
                </a:solidFill>
                <a:latin typeface="Arimo Italics"/>
                <a:ea typeface="Arimo Italics"/>
                <a:cs typeface="Arimo Italics"/>
                <a:sym typeface="Arimo Italics"/>
              </a:rPr>
              <a:t>b₁</a:t>
            </a:r>
            <a:r>
              <a:rPr lang="en-US" sz="2187">
                <a:solidFill>
                  <a:srgbClr val="52586B"/>
                </a:solidFill>
                <a:latin typeface="Arimo"/>
                <a:ea typeface="Arimo"/>
                <a:cs typeface="Arimo"/>
                <a:sym typeface="Arimo"/>
              </a:rPr>
              <a:t> through </a:t>
            </a:r>
            <a:r>
              <a:rPr lang="en-US" sz="2187" i="1">
                <a:solidFill>
                  <a:srgbClr val="52586B"/>
                </a:solidFill>
                <a:latin typeface="Arimo Italics"/>
                <a:ea typeface="Arimo Italics"/>
                <a:cs typeface="Arimo Italics"/>
                <a:sym typeface="Arimo Italics"/>
              </a:rPr>
              <a:t>b₅</a:t>
            </a:r>
            <a:r>
              <a:rPr lang="en-US" sz="2187">
                <a:solidFill>
                  <a:srgbClr val="52586B"/>
                </a:solidFill>
                <a:latin typeface="Arimo"/>
                <a:ea typeface="Arimo"/>
                <a:cs typeface="Arimo"/>
                <a:sym typeface="Arimo"/>
              </a:rPr>
              <a:t> are the coefficients indicating the weight and direction of each feature's influence on salary. The </a:t>
            </a:r>
            <a:r>
              <a:rPr lang="en-US" sz="2187" i="1">
                <a:solidFill>
                  <a:srgbClr val="52586B"/>
                </a:solidFill>
                <a:latin typeface="Arimo Italics"/>
                <a:ea typeface="Arimo Italics"/>
                <a:cs typeface="Arimo Italics"/>
                <a:sym typeface="Arimo Italics"/>
              </a:rPr>
              <a:t>ε</a:t>
            </a:r>
            <a:r>
              <a:rPr lang="en-US" sz="2187">
                <a:solidFill>
                  <a:srgbClr val="52586B"/>
                </a:solidFill>
                <a:latin typeface="Arimo"/>
                <a:ea typeface="Arimo"/>
                <a:cs typeface="Arimo"/>
                <a:sym typeface="Arimo"/>
              </a:rPr>
              <a:t> term accounts for the irreducible error.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45802" y="695474"/>
            <a:ext cx="9405789" cy="639474"/>
          </a:xfrm>
          <a:prstGeom prst="rect">
            <a:avLst/>
          </a:prstGeom>
        </p:spPr>
        <p:txBody>
          <a:bodyPr lIns="0" tIns="0" rIns="0" bIns="0" rtlCol="0" anchor="t">
            <a:spAutoFit/>
          </a:bodyPr>
          <a:lstStyle/>
          <a:p>
            <a:pPr algn="l">
              <a:lnSpc>
                <a:spcPts val="4939"/>
              </a:lnSpc>
            </a:pPr>
            <a:r>
              <a:rPr lang="en-US" sz="3937" b="1">
                <a:solidFill>
                  <a:srgbClr val="373B48"/>
                </a:solidFill>
                <a:latin typeface="Arimo Bold"/>
                <a:ea typeface="Arimo Bold"/>
                <a:cs typeface="Arimo Bold"/>
                <a:sym typeface="Arimo Bold"/>
              </a:rPr>
              <a:t>Tools &amp; Technologies Utilized</a:t>
            </a:r>
          </a:p>
        </p:txBody>
      </p:sp>
      <p:sp>
        <p:nvSpPr>
          <p:cNvPr id="7" name="TextBox 7"/>
          <p:cNvSpPr txBox="1"/>
          <p:nvPr/>
        </p:nvSpPr>
        <p:spPr>
          <a:xfrm>
            <a:off x="945803" y="1858118"/>
            <a:ext cx="16396395" cy="1005558"/>
          </a:xfrm>
          <a:prstGeom prst="rect">
            <a:avLst/>
          </a:prstGeom>
        </p:spPr>
        <p:txBody>
          <a:bodyPr lIns="0" tIns="0" rIns="0" bIns="0" rtlCol="0" anchor="t">
            <a:spAutoFit/>
          </a:bodyPr>
          <a:lstStyle/>
          <a:p>
            <a:pPr algn="l">
              <a:lnSpc>
                <a:spcPts val="4096"/>
              </a:lnSpc>
            </a:pPr>
            <a:r>
              <a:rPr lang="en-US" sz="2574">
                <a:solidFill>
                  <a:srgbClr val="52586B"/>
                </a:solidFill>
                <a:latin typeface="Arimo"/>
                <a:ea typeface="Arimo"/>
                <a:cs typeface="Arimo"/>
                <a:sym typeface="Arimo"/>
              </a:rPr>
              <a:t>The successful execution of this project relied on a robust stack of Python libraries and development tools, enabling efficient data manipulation, visualization, model building, and persistence.</a:t>
            </a:r>
          </a:p>
        </p:txBody>
      </p:sp>
      <p:grpSp>
        <p:nvGrpSpPr>
          <p:cNvPr id="8" name="Group 8"/>
          <p:cNvGrpSpPr>
            <a:grpSpLocks noChangeAspect="1"/>
          </p:cNvGrpSpPr>
          <p:nvPr/>
        </p:nvGrpSpPr>
        <p:grpSpPr>
          <a:xfrm>
            <a:off x="765051" y="2863676"/>
            <a:ext cx="2557314" cy="2557314"/>
            <a:chOff x="0" y="0"/>
            <a:chExt cx="3409752" cy="3409752"/>
          </a:xfrm>
        </p:grpSpPr>
        <p:sp>
          <p:nvSpPr>
            <p:cNvPr id="9" name="Freeform 9" descr="preencoded.png"/>
            <p:cNvSpPr/>
            <p:nvPr/>
          </p:nvSpPr>
          <p:spPr>
            <a:xfrm>
              <a:off x="0" y="0"/>
              <a:ext cx="3409696" cy="3409696"/>
            </a:xfrm>
            <a:custGeom>
              <a:avLst/>
              <a:gdLst/>
              <a:ahLst/>
              <a:cxnLst/>
              <a:rect l="l" t="t" r="r" b="b"/>
              <a:pathLst>
                <a:path w="3409696" h="3409696">
                  <a:moveTo>
                    <a:pt x="0" y="0"/>
                  </a:moveTo>
                  <a:lnTo>
                    <a:pt x="3409696" y="0"/>
                  </a:lnTo>
                  <a:lnTo>
                    <a:pt x="3409696" y="3409696"/>
                  </a:lnTo>
                  <a:lnTo>
                    <a:pt x="0" y="3409696"/>
                  </a:lnTo>
                  <a:lnTo>
                    <a:pt x="0" y="0"/>
                  </a:lnTo>
                  <a:close/>
                </a:path>
              </a:pathLst>
            </a:custGeom>
            <a:blipFill>
              <a:blip r:embed="rId4"/>
              <a:stretch>
                <a:fillRect r="-1" b="-1"/>
              </a:stretch>
            </a:blipFill>
          </p:spPr>
        </p:sp>
      </p:grpSp>
      <p:sp>
        <p:nvSpPr>
          <p:cNvPr id="10" name="TextBox 10"/>
          <p:cNvSpPr txBox="1"/>
          <p:nvPr/>
        </p:nvSpPr>
        <p:spPr>
          <a:xfrm>
            <a:off x="945803" y="5255270"/>
            <a:ext cx="2195810" cy="400420"/>
          </a:xfrm>
          <a:prstGeom prst="rect">
            <a:avLst/>
          </a:prstGeom>
        </p:spPr>
        <p:txBody>
          <a:bodyPr lIns="0" tIns="0" rIns="0" bIns="0" rtlCol="0" anchor="t">
            <a:spAutoFit/>
          </a:bodyPr>
          <a:lstStyle/>
          <a:p>
            <a:pPr algn="l">
              <a:lnSpc>
                <a:spcPts val="3132"/>
              </a:lnSpc>
            </a:pPr>
            <a:r>
              <a:rPr lang="en-US" sz="2487" b="1">
                <a:solidFill>
                  <a:srgbClr val="52586B"/>
                </a:solidFill>
                <a:latin typeface="Arimo Bold"/>
                <a:ea typeface="Arimo Bold"/>
                <a:cs typeface="Arimo Bold"/>
                <a:sym typeface="Arimo Bold"/>
              </a:rPr>
              <a:t>Python</a:t>
            </a:r>
          </a:p>
        </p:txBody>
      </p:sp>
      <p:sp>
        <p:nvSpPr>
          <p:cNvPr id="11" name="TextBox 11"/>
          <p:cNvSpPr txBox="1"/>
          <p:nvPr/>
        </p:nvSpPr>
        <p:spPr>
          <a:xfrm>
            <a:off x="945802" y="5701010"/>
            <a:ext cx="3934420" cy="830355"/>
          </a:xfrm>
          <a:prstGeom prst="rect">
            <a:avLst/>
          </a:prstGeom>
        </p:spPr>
        <p:txBody>
          <a:bodyPr lIns="0" tIns="0" rIns="0" bIns="0" rtlCol="0" anchor="t">
            <a:spAutoFit/>
          </a:bodyPr>
          <a:lstStyle/>
          <a:p>
            <a:pPr algn="l">
              <a:lnSpc>
                <a:spcPts val="3301"/>
              </a:lnSpc>
            </a:pPr>
            <a:r>
              <a:rPr lang="en-US" sz="2074">
                <a:solidFill>
                  <a:srgbClr val="52586B"/>
                </a:solidFill>
                <a:latin typeface="Arimo"/>
                <a:ea typeface="Arimo"/>
                <a:cs typeface="Arimo"/>
                <a:sym typeface="Arimo"/>
              </a:rPr>
              <a:t>The core programming language for data science.</a:t>
            </a:r>
          </a:p>
        </p:txBody>
      </p:sp>
      <p:grpSp>
        <p:nvGrpSpPr>
          <p:cNvPr id="12" name="Group 12"/>
          <p:cNvGrpSpPr>
            <a:grpSpLocks noChangeAspect="1"/>
          </p:cNvGrpSpPr>
          <p:nvPr/>
        </p:nvGrpSpPr>
        <p:grpSpPr>
          <a:xfrm>
            <a:off x="5099745" y="3000821"/>
            <a:ext cx="2557314" cy="2557314"/>
            <a:chOff x="0" y="0"/>
            <a:chExt cx="3409752" cy="3409752"/>
          </a:xfrm>
        </p:grpSpPr>
        <p:sp>
          <p:nvSpPr>
            <p:cNvPr id="13" name="Freeform 13" descr="preencoded.png"/>
            <p:cNvSpPr/>
            <p:nvPr/>
          </p:nvSpPr>
          <p:spPr>
            <a:xfrm>
              <a:off x="0" y="0"/>
              <a:ext cx="3409696" cy="3409696"/>
            </a:xfrm>
            <a:custGeom>
              <a:avLst/>
              <a:gdLst/>
              <a:ahLst/>
              <a:cxnLst/>
              <a:rect l="l" t="t" r="r" b="b"/>
              <a:pathLst>
                <a:path w="3409696" h="3409696">
                  <a:moveTo>
                    <a:pt x="0" y="0"/>
                  </a:moveTo>
                  <a:lnTo>
                    <a:pt x="3409696" y="0"/>
                  </a:lnTo>
                  <a:lnTo>
                    <a:pt x="3409696" y="3409696"/>
                  </a:lnTo>
                  <a:lnTo>
                    <a:pt x="0" y="3409696"/>
                  </a:lnTo>
                  <a:lnTo>
                    <a:pt x="0" y="0"/>
                  </a:lnTo>
                  <a:close/>
                </a:path>
              </a:pathLst>
            </a:custGeom>
            <a:blipFill>
              <a:blip r:embed="rId5"/>
              <a:stretch>
                <a:fillRect r="-1" b="-1"/>
              </a:stretch>
            </a:blipFill>
          </p:spPr>
        </p:sp>
      </p:grpSp>
      <p:sp>
        <p:nvSpPr>
          <p:cNvPr id="14" name="TextBox 14"/>
          <p:cNvSpPr txBox="1"/>
          <p:nvPr/>
        </p:nvSpPr>
        <p:spPr>
          <a:xfrm>
            <a:off x="4985445" y="5255270"/>
            <a:ext cx="2671614" cy="400420"/>
          </a:xfrm>
          <a:prstGeom prst="rect">
            <a:avLst/>
          </a:prstGeom>
        </p:spPr>
        <p:txBody>
          <a:bodyPr lIns="0" tIns="0" rIns="0" bIns="0" rtlCol="0" anchor="t">
            <a:spAutoFit/>
          </a:bodyPr>
          <a:lstStyle/>
          <a:p>
            <a:pPr marL="0" lvl="0" indent="0" algn="l">
              <a:lnSpc>
                <a:spcPts val="3132"/>
              </a:lnSpc>
              <a:spcBef>
                <a:spcPct val="0"/>
              </a:spcBef>
            </a:pPr>
            <a:r>
              <a:rPr lang="en-US" sz="2487" b="1" u="none" strike="noStrike">
                <a:solidFill>
                  <a:srgbClr val="52586B"/>
                </a:solidFill>
                <a:latin typeface="Arimo Bold"/>
                <a:ea typeface="Arimo Bold"/>
                <a:cs typeface="Arimo Bold"/>
                <a:sym typeface="Arimo Bold"/>
              </a:rPr>
              <a:t>Pandas &amp; NumPy</a:t>
            </a:r>
          </a:p>
        </p:txBody>
      </p:sp>
      <p:sp>
        <p:nvSpPr>
          <p:cNvPr id="15" name="TextBox 15"/>
          <p:cNvSpPr txBox="1"/>
          <p:nvPr/>
        </p:nvSpPr>
        <p:spPr>
          <a:xfrm>
            <a:off x="5099745" y="5701010"/>
            <a:ext cx="3392993" cy="830355"/>
          </a:xfrm>
          <a:prstGeom prst="rect">
            <a:avLst/>
          </a:prstGeom>
        </p:spPr>
        <p:txBody>
          <a:bodyPr lIns="0" tIns="0" rIns="0" bIns="0" rtlCol="0" anchor="t">
            <a:spAutoFit/>
          </a:bodyPr>
          <a:lstStyle/>
          <a:p>
            <a:pPr marL="0" lvl="0" indent="0" algn="l">
              <a:lnSpc>
                <a:spcPts val="3301"/>
              </a:lnSpc>
              <a:spcBef>
                <a:spcPct val="0"/>
              </a:spcBef>
            </a:pPr>
            <a:r>
              <a:rPr lang="en-US" sz="2074" u="none" strike="noStrike">
                <a:solidFill>
                  <a:srgbClr val="52586B"/>
                </a:solidFill>
                <a:latin typeface="Arimo"/>
                <a:ea typeface="Arimo"/>
                <a:cs typeface="Arimo"/>
                <a:sym typeface="Arimo"/>
              </a:rPr>
              <a:t>Essential for data handling and numerical operations.</a:t>
            </a:r>
          </a:p>
        </p:txBody>
      </p:sp>
      <p:grpSp>
        <p:nvGrpSpPr>
          <p:cNvPr id="16" name="Group 16"/>
          <p:cNvGrpSpPr>
            <a:grpSpLocks noChangeAspect="1"/>
          </p:cNvGrpSpPr>
          <p:nvPr/>
        </p:nvGrpSpPr>
        <p:grpSpPr>
          <a:xfrm>
            <a:off x="9592048" y="3213609"/>
            <a:ext cx="1857449" cy="1857449"/>
            <a:chOff x="0" y="0"/>
            <a:chExt cx="3409752" cy="3409752"/>
          </a:xfrm>
        </p:grpSpPr>
        <p:sp>
          <p:nvSpPr>
            <p:cNvPr id="17" name="Freeform 17" descr="preencoded.png"/>
            <p:cNvSpPr/>
            <p:nvPr/>
          </p:nvSpPr>
          <p:spPr>
            <a:xfrm>
              <a:off x="0" y="0"/>
              <a:ext cx="3409696" cy="3409696"/>
            </a:xfrm>
            <a:custGeom>
              <a:avLst/>
              <a:gdLst/>
              <a:ahLst/>
              <a:cxnLst/>
              <a:rect l="l" t="t" r="r" b="b"/>
              <a:pathLst>
                <a:path w="3409696" h="3409696">
                  <a:moveTo>
                    <a:pt x="0" y="0"/>
                  </a:moveTo>
                  <a:lnTo>
                    <a:pt x="3409696" y="0"/>
                  </a:lnTo>
                  <a:lnTo>
                    <a:pt x="3409696" y="3409696"/>
                  </a:lnTo>
                  <a:lnTo>
                    <a:pt x="0" y="3409696"/>
                  </a:lnTo>
                  <a:lnTo>
                    <a:pt x="0" y="0"/>
                  </a:lnTo>
                  <a:close/>
                </a:path>
              </a:pathLst>
            </a:custGeom>
            <a:blipFill>
              <a:blip r:embed="rId6"/>
              <a:stretch>
                <a:fillRect r="-1" b="-1"/>
              </a:stretch>
            </a:blipFill>
          </p:spPr>
        </p:sp>
      </p:grpSp>
      <p:sp>
        <p:nvSpPr>
          <p:cNvPr id="18" name="TextBox 18"/>
          <p:cNvSpPr txBox="1"/>
          <p:nvPr/>
        </p:nvSpPr>
        <p:spPr>
          <a:xfrm>
            <a:off x="9253686" y="5255270"/>
            <a:ext cx="3414022" cy="400420"/>
          </a:xfrm>
          <a:prstGeom prst="rect">
            <a:avLst/>
          </a:prstGeom>
        </p:spPr>
        <p:txBody>
          <a:bodyPr lIns="0" tIns="0" rIns="0" bIns="0" rtlCol="0" anchor="t">
            <a:spAutoFit/>
          </a:bodyPr>
          <a:lstStyle/>
          <a:p>
            <a:pPr marL="0" lvl="0" indent="0" algn="l">
              <a:lnSpc>
                <a:spcPts val="3132"/>
              </a:lnSpc>
              <a:spcBef>
                <a:spcPct val="0"/>
              </a:spcBef>
            </a:pPr>
            <a:r>
              <a:rPr lang="en-US" sz="2487" b="1" u="none" strike="noStrike">
                <a:solidFill>
                  <a:srgbClr val="52586B"/>
                </a:solidFill>
                <a:latin typeface="Arimo Bold"/>
                <a:ea typeface="Arimo Bold"/>
                <a:cs typeface="Arimo Bold"/>
                <a:sym typeface="Arimo Bold"/>
              </a:rPr>
              <a:t>Matplotlib &amp; Seaborn</a:t>
            </a:r>
          </a:p>
        </p:txBody>
      </p:sp>
      <p:sp>
        <p:nvSpPr>
          <p:cNvPr id="19" name="TextBox 19"/>
          <p:cNvSpPr txBox="1"/>
          <p:nvPr/>
        </p:nvSpPr>
        <p:spPr>
          <a:xfrm>
            <a:off x="9143925" y="5701010"/>
            <a:ext cx="3934420" cy="830355"/>
          </a:xfrm>
          <a:prstGeom prst="rect">
            <a:avLst/>
          </a:prstGeom>
        </p:spPr>
        <p:txBody>
          <a:bodyPr lIns="0" tIns="0" rIns="0" bIns="0" rtlCol="0" anchor="t">
            <a:spAutoFit/>
          </a:bodyPr>
          <a:lstStyle/>
          <a:p>
            <a:pPr marL="0" lvl="0" indent="0" algn="l">
              <a:lnSpc>
                <a:spcPts val="3301"/>
              </a:lnSpc>
              <a:spcBef>
                <a:spcPct val="0"/>
              </a:spcBef>
            </a:pPr>
            <a:r>
              <a:rPr lang="en-US" sz="2074" u="none" strike="noStrike">
                <a:solidFill>
                  <a:srgbClr val="52586B"/>
                </a:solidFill>
                <a:latin typeface="Arimo"/>
                <a:ea typeface="Arimo"/>
                <a:cs typeface="Arimo"/>
                <a:sym typeface="Arimo"/>
              </a:rPr>
              <a:t>For comprehensive data visualization and EDA.</a:t>
            </a:r>
          </a:p>
        </p:txBody>
      </p:sp>
      <p:grpSp>
        <p:nvGrpSpPr>
          <p:cNvPr id="20" name="Group 20"/>
          <p:cNvGrpSpPr>
            <a:grpSpLocks noChangeAspect="1"/>
          </p:cNvGrpSpPr>
          <p:nvPr/>
        </p:nvGrpSpPr>
        <p:grpSpPr>
          <a:xfrm>
            <a:off x="13407628" y="3234593"/>
            <a:ext cx="1815480" cy="1815480"/>
            <a:chOff x="0" y="0"/>
            <a:chExt cx="3409950" cy="3409950"/>
          </a:xfrm>
        </p:grpSpPr>
        <p:sp>
          <p:nvSpPr>
            <p:cNvPr id="21" name="Freeform 21" descr="preencoded.png"/>
            <p:cNvSpPr/>
            <p:nvPr/>
          </p:nvSpPr>
          <p:spPr>
            <a:xfrm>
              <a:off x="0" y="0"/>
              <a:ext cx="3409950" cy="3409950"/>
            </a:xfrm>
            <a:custGeom>
              <a:avLst/>
              <a:gdLst/>
              <a:ahLst/>
              <a:cxnLst/>
              <a:rect l="l" t="t" r="r" b="b"/>
              <a:pathLst>
                <a:path w="3409950" h="3409950">
                  <a:moveTo>
                    <a:pt x="0" y="0"/>
                  </a:moveTo>
                  <a:lnTo>
                    <a:pt x="3409950" y="0"/>
                  </a:lnTo>
                  <a:lnTo>
                    <a:pt x="3409950" y="3409950"/>
                  </a:lnTo>
                  <a:lnTo>
                    <a:pt x="0" y="3409950"/>
                  </a:lnTo>
                  <a:lnTo>
                    <a:pt x="0" y="0"/>
                  </a:lnTo>
                  <a:close/>
                </a:path>
              </a:pathLst>
            </a:custGeom>
            <a:blipFill>
              <a:blip r:embed="rId7"/>
              <a:stretch>
                <a:fillRect/>
              </a:stretch>
            </a:blipFill>
          </p:spPr>
        </p:sp>
      </p:grpSp>
      <p:sp>
        <p:nvSpPr>
          <p:cNvPr id="22" name="TextBox 22"/>
          <p:cNvSpPr txBox="1"/>
          <p:nvPr/>
        </p:nvSpPr>
        <p:spPr>
          <a:xfrm>
            <a:off x="13407628" y="5255270"/>
            <a:ext cx="2195810" cy="400420"/>
          </a:xfrm>
          <a:prstGeom prst="rect">
            <a:avLst/>
          </a:prstGeom>
        </p:spPr>
        <p:txBody>
          <a:bodyPr lIns="0" tIns="0" rIns="0" bIns="0" rtlCol="0" anchor="t">
            <a:spAutoFit/>
          </a:bodyPr>
          <a:lstStyle/>
          <a:p>
            <a:pPr marL="0" lvl="0" indent="0" algn="l">
              <a:lnSpc>
                <a:spcPts val="3132"/>
              </a:lnSpc>
              <a:spcBef>
                <a:spcPct val="0"/>
              </a:spcBef>
            </a:pPr>
            <a:r>
              <a:rPr lang="en-US" sz="2487" b="1" u="none" strike="noStrike">
                <a:solidFill>
                  <a:srgbClr val="52586B"/>
                </a:solidFill>
                <a:latin typeface="Arimo Bold"/>
                <a:ea typeface="Arimo Bold"/>
                <a:cs typeface="Arimo Bold"/>
                <a:sym typeface="Arimo Bold"/>
              </a:rPr>
              <a:t>Scikit-learn</a:t>
            </a:r>
          </a:p>
        </p:txBody>
      </p:sp>
      <p:sp>
        <p:nvSpPr>
          <p:cNvPr id="23" name="TextBox 23"/>
          <p:cNvSpPr txBox="1"/>
          <p:nvPr/>
        </p:nvSpPr>
        <p:spPr>
          <a:xfrm>
            <a:off x="13407627" y="5657627"/>
            <a:ext cx="3934569" cy="830355"/>
          </a:xfrm>
          <a:prstGeom prst="rect">
            <a:avLst/>
          </a:prstGeom>
        </p:spPr>
        <p:txBody>
          <a:bodyPr lIns="0" tIns="0" rIns="0" bIns="0" rtlCol="0" anchor="t">
            <a:spAutoFit/>
          </a:bodyPr>
          <a:lstStyle/>
          <a:p>
            <a:pPr marL="0" lvl="0" indent="0" algn="l">
              <a:lnSpc>
                <a:spcPts val="3301"/>
              </a:lnSpc>
              <a:spcBef>
                <a:spcPct val="0"/>
              </a:spcBef>
            </a:pPr>
            <a:r>
              <a:rPr lang="en-US" sz="2074" u="none" strike="noStrike">
                <a:solidFill>
                  <a:srgbClr val="52586B"/>
                </a:solidFill>
                <a:latin typeface="Arimo"/>
                <a:ea typeface="Arimo"/>
                <a:cs typeface="Arimo"/>
                <a:sym typeface="Arimo"/>
              </a:rPr>
              <a:t>The primary library for machine learning models.</a:t>
            </a:r>
          </a:p>
        </p:txBody>
      </p:sp>
      <p:grpSp>
        <p:nvGrpSpPr>
          <p:cNvPr id="24" name="Group 24"/>
          <p:cNvGrpSpPr>
            <a:grpSpLocks noChangeAspect="1"/>
          </p:cNvGrpSpPr>
          <p:nvPr/>
        </p:nvGrpSpPr>
        <p:grpSpPr>
          <a:xfrm>
            <a:off x="945802" y="6597550"/>
            <a:ext cx="2557314" cy="2557314"/>
            <a:chOff x="0" y="0"/>
            <a:chExt cx="3409752" cy="3409752"/>
          </a:xfrm>
        </p:grpSpPr>
        <p:sp>
          <p:nvSpPr>
            <p:cNvPr id="25" name="Freeform 25" descr="preencoded.png"/>
            <p:cNvSpPr/>
            <p:nvPr/>
          </p:nvSpPr>
          <p:spPr>
            <a:xfrm>
              <a:off x="0" y="0"/>
              <a:ext cx="3409696" cy="3409696"/>
            </a:xfrm>
            <a:custGeom>
              <a:avLst/>
              <a:gdLst/>
              <a:ahLst/>
              <a:cxnLst/>
              <a:rect l="l" t="t" r="r" b="b"/>
              <a:pathLst>
                <a:path w="3409696" h="3409696">
                  <a:moveTo>
                    <a:pt x="0" y="0"/>
                  </a:moveTo>
                  <a:lnTo>
                    <a:pt x="3409696" y="0"/>
                  </a:lnTo>
                  <a:lnTo>
                    <a:pt x="3409696" y="3409696"/>
                  </a:lnTo>
                  <a:lnTo>
                    <a:pt x="0" y="3409696"/>
                  </a:lnTo>
                  <a:lnTo>
                    <a:pt x="0" y="0"/>
                  </a:lnTo>
                  <a:close/>
                </a:path>
              </a:pathLst>
            </a:custGeom>
            <a:blipFill>
              <a:blip r:embed="rId8"/>
              <a:stretch>
                <a:fillRect r="-1" b="-1"/>
              </a:stretch>
            </a:blipFill>
          </p:spPr>
        </p:sp>
      </p:grpSp>
      <p:sp>
        <p:nvSpPr>
          <p:cNvPr id="26" name="TextBox 26"/>
          <p:cNvSpPr txBox="1"/>
          <p:nvPr/>
        </p:nvSpPr>
        <p:spPr>
          <a:xfrm>
            <a:off x="945802" y="8851999"/>
            <a:ext cx="3109469" cy="400420"/>
          </a:xfrm>
          <a:prstGeom prst="rect">
            <a:avLst/>
          </a:prstGeom>
        </p:spPr>
        <p:txBody>
          <a:bodyPr lIns="0" tIns="0" rIns="0" bIns="0" rtlCol="0" anchor="t">
            <a:spAutoFit/>
          </a:bodyPr>
          <a:lstStyle/>
          <a:p>
            <a:pPr marL="0" lvl="0" indent="0" algn="l">
              <a:lnSpc>
                <a:spcPts val="3132"/>
              </a:lnSpc>
              <a:spcBef>
                <a:spcPct val="0"/>
              </a:spcBef>
            </a:pPr>
            <a:r>
              <a:rPr lang="en-US" sz="2487" b="1" u="none" strike="noStrike">
                <a:solidFill>
                  <a:srgbClr val="52586B"/>
                </a:solidFill>
                <a:latin typeface="Arimo Bold"/>
                <a:ea typeface="Arimo Bold"/>
                <a:cs typeface="Arimo Bold"/>
                <a:sym typeface="Arimo Bold"/>
              </a:rPr>
              <a:t>Jupyter Notebook</a:t>
            </a:r>
          </a:p>
        </p:txBody>
      </p:sp>
      <p:sp>
        <p:nvSpPr>
          <p:cNvPr id="27" name="TextBox 27"/>
          <p:cNvSpPr txBox="1"/>
          <p:nvPr/>
        </p:nvSpPr>
        <p:spPr>
          <a:xfrm>
            <a:off x="945802" y="9164985"/>
            <a:ext cx="3934420" cy="830355"/>
          </a:xfrm>
          <a:prstGeom prst="rect">
            <a:avLst/>
          </a:prstGeom>
        </p:spPr>
        <p:txBody>
          <a:bodyPr lIns="0" tIns="0" rIns="0" bIns="0" rtlCol="0" anchor="t">
            <a:spAutoFit/>
          </a:bodyPr>
          <a:lstStyle/>
          <a:p>
            <a:pPr marL="0" lvl="0" indent="0" algn="l">
              <a:lnSpc>
                <a:spcPts val="3301"/>
              </a:lnSpc>
              <a:spcBef>
                <a:spcPct val="0"/>
              </a:spcBef>
            </a:pPr>
            <a:r>
              <a:rPr lang="en-US" sz="2074" u="none" strike="noStrike">
                <a:solidFill>
                  <a:srgbClr val="52586B"/>
                </a:solidFill>
                <a:latin typeface="Arimo"/>
                <a:ea typeface="Arimo"/>
                <a:cs typeface="Arimo"/>
                <a:sym typeface="Arimo"/>
              </a:rPr>
              <a:t>For interactive development and documentation.</a:t>
            </a:r>
          </a:p>
        </p:txBody>
      </p:sp>
      <p:grpSp>
        <p:nvGrpSpPr>
          <p:cNvPr id="28" name="Group 28"/>
          <p:cNvGrpSpPr>
            <a:grpSpLocks noChangeAspect="1"/>
          </p:cNvGrpSpPr>
          <p:nvPr/>
        </p:nvGrpSpPr>
        <p:grpSpPr>
          <a:xfrm>
            <a:off x="5394797" y="6913364"/>
            <a:ext cx="1967210" cy="1967210"/>
            <a:chOff x="0" y="0"/>
            <a:chExt cx="3409752" cy="3409752"/>
          </a:xfrm>
        </p:grpSpPr>
        <p:sp>
          <p:nvSpPr>
            <p:cNvPr id="29" name="Freeform 29" descr="preencoded.png"/>
            <p:cNvSpPr/>
            <p:nvPr/>
          </p:nvSpPr>
          <p:spPr>
            <a:xfrm>
              <a:off x="0" y="0"/>
              <a:ext cx="3409696" cy="3409696"/>
            </a:xfrm>
            <a:custGeom>
              <a:avLst/>
              <a:gdLst/>
              <a:ahLst/>
              <a:cxnLst/>
              <a:rect l="l" t="t" r="r" b="b"/>
              <a:pathLst>
                <a:path w="3409696" h="3409696">
                  <a:moveTo>
                    <a:pt x="0" y="0"/>
                  </a:moveTo>
                  <a:lnTo>
                    <a:pt x="3409696" y="0"/>
                  </a:lnTo>
                  <a:lnTo>
                    <a:pt x="3409696" y="3409696"/>
                  </a:lnTo>
                  <a:lnTo>
                    <a:pt x="0" y="3409696"/>
                  </a:lnTo>
                  <a:lnTo>
                    <a:pt x="0" y="0"/>
                  </a:lnTo>
                  <a:close/>
                </a:path>
              </a:pathLst>
            </a:custGeom>
            <a:blipFill>
              <a:blip r:embed="rId9"/>
              <a:stretch>
                <a:fillRect r="-1" b="-1"/>
              </a:stretch>
            </a:blipFill>
          </p:spPr>
        </p:sp>
      </p:grpSp>
      <p:sp>
        <p:nvSpPr>
          <p:cNvPr id="30" name="TextBox 30"/>
          <p:cNvSpPr txBox="1"/>
          <p:nvPr/>
        </p:nvSpPr>
        <p:spPr>
          <a:xfrm>
            <a:off x="5461249" y="8851999"/>
            <a:ext cx="2195810" cy="400420"/>
          </a:xfrm>
          <a:prstGeom prst="rect">
            <a:avLst/>
          </a:prstGeom>
        </p:spPr>
        <p:txBody>
          <a:bodyPr lIns="0" tIns="0" rIns="0" bIns="0" rtlCol="0" anchor="t">
            <a:spAutoFit/>
          </a:bodyPr>
          <a:lstStyle/>
          <a:p>
            <a:pPr marL="0" lvl="0" indent="0" algn="l">
              <a:lnSpc>
                <a:spcPts val="3132"/>
              </a:lnSpc>
              <a:spcBef>
                <a:spcPct val="0"/>
              </a:spcBef>
            </a:pPr>
            <a:r>
              <a:rPr lang="en-US" sz="2487" b="1" u="none" strike="noStrike">
                <a:solidFill>
                  <a:srgbClr val="52586B"/>
                </a:solidFill>
                <a:latin typeface="Arimo Bold"/>
                <a:ea typeface="Arimo Bold"/>
                <a:cs typeface="Arimo Bold"/>
                <a:sym typeface="Arimo Bold"/>
              </a:rPr>
              <a:t>Joblib</a:t>
            </a:r>
          </a:p>
        </p:txBody>
      </p:sp>
      <p:sp>
        <p:nvSpPr>
          <p:cNvPr id="31" name="TextBox 31"/>
          <p:cNvSpPr txBox="1"/>
          <p:nvPr/>
        </p:nvSpPr>
        <p:spPr>
          <a:xfrm>
            <a:off x="5394797" y="9164985"/>
            <a:ext cx="3934420" cy="830355"/>
          </a:xfrm>
          <a:prstGeom prst="rect">
            <a:avLst/>
          </a:prstGeom>
        </p:spPr>
        <p:txBody>
          <a:bodyPr lIns="0" tIns="0" rIns="0" bIns="0" rtlCol="0" anchor="t">
            <a:spAutoFit/>
          </a:bodyPr>
          <a:lstStyle/>
          <a:p>
            <a:pPr marL="0" lvl="0" indent="0" algn="l">
              <a:lnSpc>
                <a:spcPts val="3301"/>
              </a:lnSpc>
              <a:spcBef>
                <a:spcPct val="0"/>
              </a:spcBef>
            </a:pPr>
            <a:r>
              <a:rPr lang="en-US" sz="2074" u="none" strike="noStrike">
                <a:solidFill>
                  <a:srgbClr val="52586B"/>
                </a:solidFill>
                <a:latin typeface="Arimo"/>
                <a:ea typeface="Arimo"/>
                <a:cs typeface="Arimo"/>
                <a:sym typeface="Arimo"/>
              </a:rPr>
              <a:t>For efficient serialization and model saving.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4313379" y="617256"/>
            <a:ext cx="9661242" cy="542884"/>
          </a:xfrm>
          <a:prstGeom prst="rect">
            <a:avLst/>
          </a:prstGeom>
        </p:spPr>
        <p:txBody>
          <a:bodyPr lIns="0" tIns="0" rIns="0" bIns="0" rtlCol="0" anchor="t">
            <a:spAutoFit/>
          </a:bodyPr>
          <a:lstStyle/>
          <a:p>
            <a:pPr algn="l">
              <a:lnSpc>
                <a:spcPts val="3749"/>
              </a:lnSpc>
            </a:pPr>
            <a:r>
              <a:rPr lang="en-US" sz="4499" b="1">
                <a:solidFill>
                  <a:srgbClr val="373B48"/>
                </a:solidFill>
                <a:latin typeface="Arimo Bold"/>
                <a:ea typeface="Arimo Bold"/>
                <a:cs typeface="Arimo Bold"/>
                <a:sym typeface="Arimo Bold"/>
              </a:rPr>
              <a:t>Dataset &amp; Preprocessing Pipeline</a:t>
            </a:r>
          </a:p>
        </p:txBody>
      </p:sp>
      <p:sp>
        <p:nvSpPr>
          <p:cNvPr id="7" name="TextBox 7"/>
          <p:cNvSpPr txBox="1"/>
          <p:nvPr/>
        </p:nvSpPr>
        <p:spPr>
          <a:xfrm>
            <a:off x="871091" y="1283965"/>
            <a:ext cx="15893577" cy="945511"/>
          </a:xfrm>
          <a:prstGeom prst="rect">
            <a:avLst/>
          </a:prstGeom>
        </p:spPr>
        <p:txBody>
          <a:bodyPr lIns="0" tIns="0" rIns="0" bIns="0" rtlCol="0" anchor="t">
            <a:spAutoFit/>
          </a:bodyPr>
          <a:lstStyle/>
          <a:p>
            <a:pPr algn="l">
              <a:lnSpc>
                <a:spcPts val="3896"/>
              </a:lnSpc>
            </a:pPr>
            <a:r>
              <a:rPr lang="en-US" sz="2388">
                <a:solidFill>
                  <a:srgbClr val="52586B"/>
                </a:solidFill>
                <a:latin typeface="Arimo"/>
                <a:ea typeface="Arimo"/>
                <a:cs typeface="Arimo"/>
                <a:sym typeface="Arimo"/>
              </a:rPr>
              <a:t>Our dataset comprised essential employee attributes, crucial for building an accurate prediction model. Rigorous preprocessing steps ensured the data was clean and ready for machine learning.</a:t>
            </a:r>
          </a:p>
        </p:txBody>
      </p:sp>
      <p:sp>
        <p:nvSpPr>
          <p:cNvPr id="8" name="TextBox 8"/>
          <p:cNvSpPr txBox="1"/>
          <p:nvPr/>
        </p:nvSpPr>
        <p:spPr>
          <a:xfrm>
            <a:off x="1028700" y="2698403"/>
            <a:ext cx="6709296" cy="275593"/>
          </a:xfrm>
          <a:prstGeom prst="rect">
            <a:avLst/>
          </a:prstGeom>
        </p:spPr>
        <p:txBody>
          <a:bodyPr lIns="0" tIns="0" rIns="0" bIns="0" rtlCol="0" anchor="t">
            <a:spAutoFit/>
          </a:bodyPr>
          <a:lstStyle/>
          <a:p>
            <a:pPr algn="l">
              <a:lnSpc>
                <a:spcPts val="1550"/>
              </a:lnSpc>
            </a:pPr>
            <a:r>
              <a:rPr lang="en-US" sz="3100" b="1">
                <a:solidFill>
                  <a:srgbClr val="373B48"/>
                </a:solidFill>
                <a:latin typeface="Arimo Bold"/>
                <a:ea typeface="Arimo Bold"/>
                <a:cs typeface="Arimo Bold"/>
                <a:sym typeface="Arimo Bold"/>
              </a:rPr>
              <a:t>Key Data Columns:</a:t>
            </a:r>
          </a:p>
        </p:txBody>
      </p:sp>
      <p:sp>
        <p:nvSpPr>
          <p:cNvPr id="9" name="TextBox 9"/>
          <p:cNvSpPr txBox="1"/>
          <p:nvPr/>
        </p:nvSpPr>
        <p:spPr>
          <a:xfrm>
            <a:off x="866329" y="2960866"/>
            <a:ext cx="8277671" cy="565616"/>
          </a:xfrm>
          <a:prstGeom prst="rect">
            <a:avLst/>
          </a:prstGeom>
        </p:spPr>
        <p:txBody>
          <a:bodyPr lIns="0" tIns="0" rIns="0" bIns="0" rtlCol="0" anchor="t">
            <a:spAutoFit/>
          </a:bodyPr>
          <a:lstStyle/>
          <a:p>
            <a:pPr marL="435465" lvl="1" indent="-217733" algn="l">
              <a:lnSpc>
                <a:spcPts val="4711"/>
              </a:lnSpc>
              <a:buFont typeface="Arial"/>
              <a:buChar char="•"/>
            </a:pPr>
            <a:r>
              <a:rPr lang="en-US" sz="2887">
                <a:solidFill>
                  <a:srgbClr val="52586B"/>
                </a:solidFill>
                <a:latin typeface="Arimo"/>
                <a:ea typeface="Arimo"/>
                <a:cs typeface="Arimo"/>
                <a:sym typeface="Arimo"/>
              </a:rPr>
              <a:t>Age</a:t>
            </a:r>
          </a:p>
        </p:txBody>
      </p:sp>
      <p:sp>
        <p:nvSpPr>
          <p:cNvPr id="10" name="TextBox 10"/>
          <p:cNvSpPr txBox="1"/>
          <p:nvPr/>
        </p:nvSpPr>
        <p:spPr>
          <a:xfrm>
            <a:off x="866329" y="3459807"/>
            <a:ext cx="8277671" cy="565616"/>
          </a:xfrm>
          <a:prstGeom prst="rect">
            <a:avLst/>
          </a:prstGeom>
        </p:spPr>
        <p:txBody>
          <a:bodyPr lIns="0" tIns="0" rIns="0" bIns="0" rtlCol="0" anchor="t">
            <a:spAutoFit/>
          </a:bodyPr>
          <a:lstStyle/>
          <a:p>
            <a:pPr marL="435465" lvl="1" indent="-217733" algn="l">
              <a:lnSpc>
                <a:spcPts val="4711"/>
              </a:lnSpc>
              <a:spcBef>
                <a:spcPct val="0"/>
              </a:spcBef>
              <a:buFont typeface="Arial"/>
              <a:buChar char="•"/>
            </a:pPr>
            <a:r>
              <a:rPr lang="en-US" sz="2887" u="none" strike="noStrike">
                <a:solidFill>
                  <a:srgbClr val="52586B"/>
                </a:solidFill>
                <a:latin typeface="Arimo"/>
                <a:ea typeface="Arimo"/>
                <a:cs typeface="Arimo"/>
                <a:sym typeface="Arimo"/>
              </a:rPr>
              <a:t>Gender</a:t>
            </a:r>
          </a:p>
        </p:txBody>
      </p:sp>
      <p:sp>
        <p:nvSpPr>
          <p:cNvPr id="11" name="TextBox 11"/>
          <p:cNvSpPr txBox="1"/>
          <p:nvPr/>
        </p:nvSpPr>
        <p:spPr>
          <a:xfrm>
            <a:off x="866329" y="4000020"/>
            <a:ext cx="8277671" cy="565616"/>
          </a:xfrm>
          <a:prstGeom prst="rect">
            <a:avLst/>
          </a:prstGeom>
        </p:spPr>
        <p:txBody>
          <a:bodyPr lIns="0" tIns="0" rIns="0" bIns="0" rtlCol="0" anchor="t">
            <a:spAutoFit/>
          </a:bodyPr>
          <a:lstStyle/>
          <a:p>
            <a:pPr marL="435465" lvl="1" indent="-217733" algn="l">
              <a:lnSpc>
                <a:spcPts val="4711"/>
              </a:lnSpc>
              <a:spcBef>
                <a:spcPct val="0"/>
              </a:spcBef>
              <a:buFont typeface="Arial"/>
              <a:buChar char="•"/>
            </a:pPr>
            <a:r>
              <a:rPr lang="en-US" sz="2887" u="none" strike="noStrike">
                <a:solidFill>
                  <a:srgbClr val="52586B"/>
                </a:solidFill>
                <a:latin typeface="Arimo"/>
                <a:ea typeface="Arimo"/>
                <a:cs typeface="Arimo"/>
                <a:sym typeface="Arimo"/>
              </a:rPr>
              <a:t>Education Level</a:t>
            </a:r>
          </a:p>
        </p:txBody>
      </p:sp>
      <p:sp>
        <p:nvSpPr>
          <p:cNvPr id="12" name="TextBox 12"/>
          <p:cNvSpPr txBox="1"/>
          <p:nvPr/>
        </p:nvSpPr>
        <p:spPr>
          <a:xfrm>
            <a:off x="866329" y="4463802"/>
            <a:ext cx="8277671" cy="565616"/>
          </a:xfrm>
          <a:prstGeom prst="rect">
            <a:avLst/>
          </a:prstGeom>
        </p:spPr>
        <p:txBody>
          <a:bodyPr lIns="0" tIns="0" rIns="0" bIns="0" rtlCol="0" anchor="t">
            <a:spAutoFit/>
          </a:bodyPr>
          <a:lstStyle/>
          <a:p>
            <a:pPr marL="435465" lvl="1" indent="-217733" algn="l">
              <a:lnSpc>
                <a:spcPts val="4711"/>
              </a:lnSpc>
              <a:spcBef>
                <a:spcPct val="0"/>
              </a:spcBef>
              <a:buFont typeface="Arial"/>
              <a:buChar char="•"/>
            </a:pPr>
            <a:r>
              <a:rPr lang="en-US" sz="2887" u="none" strike="noStrike">
                <a:solidFill>
                  <a:srgbClr val="52586B"/>
                </a:solidFill>
                <a:latin typeface="Arimo"/>
                <a:ea typeface="Arimo"/>
                <a:cs typeface="Arimo"/>
                <a:sym typeface="Arimo"/>
              </a:rPr>
              <a:t>Job Title</a:t>
            </a:r>
          </a:p>
        </p:txBody>
      </p:sp>
      <p:sp>
        <p:nvSpPr>
          <p:cNvPr id="13" name="TextBox 13"/>
          <p:cNvSpPr txBox="1"/>
          <p:nvPr/>
        </p:nvSpPr>
        <p:spPr>
          <a:xfrm>
            <a:off x="866329" y="4903967"/>
            <a:ext cx="8277671" cy="565616"/>
          </a:xfrm>
          <a:prstGeom prst="rect">
            <a:avLst/>
          </a:prstGeom>
        </p:spPr>
        <p:txBody>
          <a:bodyPr lIns="0" tIns="0" rIns="0" bIns="0" rtlCol="0" anchor="t">
            <a:spAutoFit/>
          </a:bodyPr>
          <a:lstStyle/>
          <a:p>
            <a:pPr marL="435465" lvl="1" indent="-217733" algn="l">
              <a:lnSpc>
                <a:spcPts val="4711"/>
              </a:lnSpc>
              <a:spcBef>
                <a:spcPct val="0"/>
              </a:spcBef>
              <a:buFont typeface="Arial"/>
              <a:buChar char="•"/>
            </a:pPr>
            <a:r>
              <a:rPr lang="en-US" sz="2887" u="none" strike="noStrike">
                <a:solidFill>
                  <a:srgbClr val="52586B"/>
                </a:solidFill>
                <a:latin typeface="Arimo"/>
                <a:ea typeface="Arimo"/>
                <a:cs typeface="Arimo"/>
                <a:sym typeface="Arimo"/>
              </a:rPr>
              <a:t>Years of Experience</a:t>
            </a:r>
          </a:p>
        </p:txBody>
      </p:sp>
      <p:sp>
        <p:nvSpPr>
          <p:cNvPr id="14" name="TextBox 14"/>
          <p:cNvSpPr txBox="1"/>
          <p:nvPr/>
        </p:nvSpPr>
        <p:spPr>
          <a:xfrm>
            <a:off x="871091" y="5398706"/>
            <a:ext cx="8277671" cy="565616"/>
          </a:xfrm>
          <a:prstGeom prst="rect">
            <a:avLst/>
          </a:prstGeom>
        </p:spPr>
        <p:txBody>
          <a:bodyPr lIns="0" tIns="0" rIns="0" bIns="0" rtlCol="0" anchor="t">
            <a:spAutoFit/>
          </a:bodyPr>
          <a:lstStyle/>
          <a:p>
            <a:pPr marL="435465" lvl="1" indent="-217733" algn="l">
              <a:lnSpc>
                <a:spcPts val="4711"/>
              </a:lnSpc>
              <a:spcBef>
                <a:spcPct val="0"/>
              </a:spcBef>
              <a:buFont typeface="Arial"/>
              <a:buChar char="•"/>
            </a:pPr>
            <a:r>
              <a:rPr lang="en-US" sz="2887" u="none" strike="noStrike">
                <a:solidFill>
                  <a:srgbClr val="52586B"/>
                </a:solidFill>
                <a:latin typeface="Arimo"/>
                <a:ea typeface="Arimo"/>
                <a:cs typeface="Arimo"/>
                <a:sym typeface="Arimo"/>
              </a:rPr>
              <a:t>Salary</a:t>
            </a:r>
          </a:p>
        </p:txBody>
      </p:sp>
      <p:sp>
        <p:nvSpPr>
          <p:cNvPr id="15" name="TextBox 15"/>
          <p:cNvSpPr txBox="1"/>
          <p:nvPr/>
        </p:nvSpPr>
        <p:spPr>
          <a:xfrm>
            <a:off x="9342388" y="2479328"/>
            <a:ext cx="5474285" cy="476210"/>
          </a:xfrm>
          <a:prstGeom prst="rect">
            <a:avLst/>
          </a:prstGeom>
        </p:spPr>
        <p:txBody>
          <a:bodyPr lIns="0" tIns="0" rIns="0" bIns="0" rtlCol="0" anchor="t">
            <a:spAutoFit/>
          </a:bodyPr>
          <a:lstStyle/>
          <a:p>
            <a:pPr marL="0" lvl="0" indent="0" algn="l">
              <a:lnSpc>
                <a:spcPts val="3749"/>
              </a:lnSpc>
              <a:spcBef>
                <a:spcPct val="0"/>
              </a:spcBef>
            </a:pPr>
            <a:r>
              <a:rPr lang="en-US" sz="2999" b="1" u="none" strike="noStrike">
                <a:solidFill>
                  <a:srgbClr val="52586B"/>
                </a:solidFill>
                <a:latin typeface="Arimo Bold"/>
                <a:ea typeface="Arimo Bold"/>
                <a:cs typeface="Arimo Bold"/>
                <a:sym typeface="Arimo Bold"/>
              </a:rPr>
              <a:t>Preprocessing Steps:</a:t>
            </a:r>
          </a:p>
        </p:txBody>
      </p:sp>
      <p:grpSp>
        <p:nvGrpSpPr>
          <p:cNvPr id="16" name="Group 16"/>
          <p:cNvGrpSpPr/>
          <p:nvPr/>
        </p:nvGrpSpPr>
        <p:grpSpPr>
          <a:xfrm>
            <a:off x="9342388" y="5326770"/>
            <a:ext cx="8277671" cy="19050"/>
            <a:chOff x="0" y="0"/>
            <a:chExt cx="11036895" cy="25400"/>
          </a:xfrm>
        </p:grpSpPr>
        <p:sp>
          <p:nvSpPr>
            <p:cNvPr id="17" name="Freeform 17"/>
            <p:cNvSpPr/>
            <p:nvPr/>
          </p:nvSpPr>
          <p:spPr>
            <a:xfrm>
              <a:off x="0" y="0"/>
              <a:ext cx="11036935" cy="25400"/>
            </a:xfrm>
            <a:custGeom>
              <a:avLst/>
              <a:gdLst/>
              <a:ahLst/>
              <a:cxnLst/>
              <a:rect l="l" t="t" r="r" b="b"/>
              <a:pathLst>
                <a:path w="11036935" h="25400">
                  <a:moveTo>
                    <a:pt x="0" y="0"/>
                  </a:moveTo>
                  <a:lnTo>
                    <a:pt x="11036935" y="0"/>
                  </a:lnTo>
                  <a:lnTo>
                    <a:pt x="11036935" y="25400"/>
                  </a:lnTo>
                  <a:lnTo>
                    <a:pt x="0" y="25400"/>
                  </a:lnTo>
                  <a:close/>
                </a:path>
              </a:pathLst>
            </a:custGeom>
            <a:solidFill>
              <a:srgbClr val="373B48"/>
            </a:solidFill>
          </p:spPr>
        </p:sp>
      </p:grpSp>
      <p:sp>
        <p:nvSpPr>
          <p:cNvPr id="18" name="TextBox 18"/>
          <p:cNvSpPr txBox="1"/>
          <p:nvPr/>
        </p:nvSpPr>
        <p:spPr>
          <a:xfrm>
            <a:off x="9342388" y="3191561"/>
            <a:ext cx="5474285" cy="421661"/>
          </a:xfrm>
          <a:prstGeom prst="rect">
            <a:avLst/>
          </a:prstGeom>
        </p:spPr>
        <p:txBody>
          <a:bodyPr lIns="0" tIns="0" rIns="0" bIns="0" rtlCol="0" anchor="t">
            <a:spAutoFit/>
          </a:bodyPr>
          <a:lstStyle/>
          <a:p>
            <a:pPr marL="0" lvl="0" indent="0" algn="l">
              <a:lnSpc>
                <a:spcPts val="3249"/>
              </a:lnSpc>
              <a:spcBef>
                <a:spcPct val="0"/>
              </a:spcBef>
            </a:pPr>
            <a:r>
              <a:rPr lang="en-US" sz="2599" b="1" u="none" strike="noStrike">
                <a:solidFill>
                  <a:srgbClr val="52586B"/>
                </a:solidFill>
                <a:latin typeface="Arimo Bold"/>
                <a:ea typeface="Arimo Bold"/>
                <a:cs typeface="Arimo Bold"/>
                <a:sym typeface="Arimo Bold"/>
              </a:rPr>
              <a:t>Handle Missing Values</a:t>
            </a:r>
          </a:p>
        </p:txBody>
      </p:sp>
      <p:sp>
        <p:nvSpPr>
          <p:cNvPr id="19" name="TextBox 19"/>
          <p:cNvSpPr txBox="1"/>
          <p:nvPr/>
        </p:nvSpPr>
        <p:spPr>
          <a:xfrm>
            <a:off x="9342388" y="3547411"/>
            <a:ext cx="8277671" cy="418984"/>
          </a:xfrm>
          <a:prstGeom prst="rect">
            <a:avLst/>
          </a:prstGeom>
        </p:spPr>
        <p:txBody>
          <a:bodyPr lIns="0" tIns="0" rIns="0" bIns="0" rtlCol="0" anchor="t">
            <a:spAutoFit/>
          </a:bodyPr>
          <a:lstStyle/>
          <a:p>
            <a:pPr marL="0" lvl="0" indent="0" algn="l">
              <a:lnSpc>
                <a:spcPts val="3405"/>
              </a:lnSpc>
              <a:spcBef>
                <a:spcPct val="0"/>
              </a:spcBef>
            </a:pPr>
            <a:r>
              <a:rPr lang="en-US" sz="2087" u="none" strike="noStrike">
                <a:solidFill>
                  <a:srgbClr val="52586B"/>
                </a:solidFill>
                <a:latin typeface="Arimo"/>
                <a:ea typeface="Arimo"/>
                <a:cs typeface="Arimo"/>
                <a:sym typeface="Arimo"/>
              </a:rPr>
              <a:t>Ensuring data completeness and integrity.</a:t>
            </a:r>
          </a:p>
        </p:txBody>
      </p:sp>
      <p:grpSp>
        <p:nvGrpSpPr>
          <p:cNvPr id="20" name="Group 20"/>
          <p:cNvGrpSpPr/>
          <p:nvPr/>
        </p:nvGrpSpPr>
        <p:grpSpPr>
          <a:xfrm>
            <a:off x="9342387" y="4251934"/>
            <a:ext cx="8277671" cy="19050"/>
            <a:chOff x="0" y="0"/>
            <a:chExt cx="11036895" cy="25400"/>
          </a:xfrm>
        </p:grpSpPr>
        <p:sp>
          <p:nvSpPr>
            <p:cNvPr id="21" name="Freeform 21"/>
            <p:cNvSpPr/>
            <p:nvPr/>
          </p:nvSpPr>
          <p:spPr>
            <a:xfrm>
              <a:off x="0" y="0"/>
              <a:ext cx="11036935" cy="25400"/>
            </a:xfrm>
            <a:custGeom>
              <a:avLst/>
              <a:gdLst/>
              <a:ahLst/>
              <a:cxnLst/>
              <a:rect l="l" t="t" r="r" b="b"/>
              <a:pathLst>
                <a:path w="11036935" h="25400">
                  <a:moveTo>
                    <a:pt x="0" y="0"/>
                  </a:moveTo>
                  <a:lnTo>
                    <a:pt x="11036935" y="0"/>
                  </a:lnTo>
                  <a:lnTo>
                    <a:pt x="11036935" y="25400"/>
                  </a:lnTo>
                  <a:lnTo>
                    <a:pt x="0" y="25400"/>
                  </a:lnTo>
                  <a:close/>
                </a:path>
              </a:pathLst>
            </a:custGeom>
            <a:solidFill>
              <a:srgbClr val="373B48"/>
            </a:solidFill>
          </p:spPr>
        </p:sp>
      </p:grpSp>
      <p:sp>
        <p:nvSpPr>
          <p:cNvPr id="22" name="TextBox 22"/>
          <p:cNvSpPr txBox="1"/>
          <p:nvPr/>
        </p:nvSpPr>
        <p:spPr>
          <a:xfrm>
            <a:off x="9342388" y="4391625"/>
            <a:ext cx="6026106" cy="421661"/>
          </a:xfrm>
          <a:prstGeom prst="rect">
            <a:avLst/>
          </a:prstGeom>
        </p:spPr>
        <p:txBody>
          <a:bodyPr lIns="0" tIns="0" rIns="0" bIns="0" rtlCol="0" anchor="t">
            <a:spAutoFit/>
          </a:bodyPr>
          <a:lstStyle/>
          <a:p>
            <a:pPr marL="0" lvl="0" indent="0" algn="l">
              <a:lnSpc>
                <a:spcPts val="3249"/>
              </a:lnSpc>
              <a:spcBef>
                <a:spcPct val="0"/>
              </a:spcBef>
            </a:pPr>
            <a:r>
              <a:rPr lang="en-US" sz="2599" b="1" u="none" strike="noStrike">
                <a:solidFill>
                  <a:srgbClr val="52586B"/>
                </a:solidFill>
                <a:latin typeface="Arimo Bold"/>
                <a:ea typeface="Arimo Bold"/>
                <a:cs typeface="Arimo Bold"/>
                <a:sym typeface="Arimo Bold"/>
              </a:rPr>
              <a:t>Encode Categorical Features</a:t>
            </a:r>
          </a:p>
        </p:txBody>
      </p:sp>
      <p:sp>
        <p:nvSpPr>
          <p:cNvPr id="23" name="TextBox 23"/>
          <p:cNvSpPr txBox="1"/>
          <p:nvPr/>
        </p:nvSpPr>
        <p:spPr>
          <a:xfrm>
            <a:off x="9342388" y="4775437"/>
            <a:ext cx="8277671" cy="418984"/>
          </a:xfrm>
          <a:prstGeom prst="rect">
            <a:avLst/>
          </a:prstGeom>
        </p:spPr>
        <p:txBody>
          <a:bodyPr lIns="0" tIns="0" rIns="0" bIns="0" rtlCol="0" anchor="t">
            <a:spAutoFit/>
          </a:bodyPr>
          <a:lstStyle/>
          <a:p>
            <a:pPr marL="0" lvl="0" indent="0" algn="l">
              <a:lnSpc>
                <a:spcPts val="3405"/>
              </a:lnSpc>
              <a:spcBef>
                <a:spcPct val="0"/>
              </a:spcBef>
            </a:pPr>
            <a:r>
              <a:rPr lang="en-US" sz="2087" u="none" strike="noStrike">
                <a:solidFill>
                  <a:srgbClr val="52586B"/>
                </a:solidFill>
                <a:latin typeface="Arimo"/>
                <a:ea typeface="Arimo"/>
                <a:cs typeface="Arimo"/>
                <a:sym typeface="Arimo"/>
              </a:rPr>
              <a:t>Transforming qualitative data into numerical format.</a:t>
            </a:r>
          </a:p>
        </p:txBody>
      </p:sp>
      <p:grpSp>
        <p:nvGrpSpPr>
          <p:cNvPr id="24" name="Group 24"/>
          <p:cNvGrpSpPr/>
          <p:nvPr/>
        </p:nvGrpSpPr>
        <p:grpSpPr>
          <a:xfrm>
            <a:off x="9342388" y="3018982"/>
            <a:ext cx="8277671" cy="48755"/>
            <a:chOff x="0" y="0"/>
            <a:chExt cx="11036895" cy="65006"/>
          </a:xfrm>
        </p:grpSpPr>
        <p:sp>
          <p:nvSpPr>
            <p:cNvPr id="25" name="Freeform 25"/>
            <p:cNvSpPr/>
            <p:nvPr/>
          </p:nvSpPr>
          <p:spPr>
            <a:xfrm>
              <a:off x="0" y="0"/>
              <a:ext cx="11036935" cy="65006"/>
            </a:xfrm>
            <a:custGeom>
              <a:avLst/>
              <a:gdLst/>
              <a:ahLst/>
              <a:cxnLst/>
              <a:rect l="l" t="t" r="r" b="b"/>
              <a:pathLst>
                <a:path w="11036935" h="65006">
                  <a:moveTo>
                    <a:pt x="0" y="0"/>
                  </a:moveTo>
                  <a:lnTo>
                    <a:pt x="11036935" y="0"/>
                  </a:lnTo>
                  <a:lnTo>
                    <a:pt x="11036935" y="65006"/>
                  </a:lnTo>
                  <a:lnTo>
                    <a:pt x="0" y="65006"/>
                  </a:lnTo>
                  <a:close/>
                </a:path>
              </a:pathLst>
            </a:custGeom>
            <a:solidFill>
              <a:srgbClr val="373B48"/>
            </a:solidFill>
          </p:spPr>
        </p:sp>
      </p:grpSp>
      <p:sp>
        <p:nvSpPr>
          <p:cNvPr id="26" name="TextBox 26"/>
          <p:cNvSpPr txBox="1"/>
          <p:nvPr/>
        </p:nvSpPr>
        <p:spPr>
          <a:xfrm>
            <a:off x="9342387" y="5441007"/>
            <a:ext cx="3830655" cy="421661"/>
          </a:xfrm>
          <a:prstGeom prst="rect">
            <a:avLst/>
          </a:prstGeom>
        </p:spPr>
        <p:txBody>
          <a:bodyPr lIns="0" tIns="0" rIns="0" bIns="0" rtlCol="0" anchor="t">
            <a:spAutoFit/>
          </a:bodyPr>
          <a:lstStyle/>
          <a:p>
            <a:pPr algn="l">
              <a:lnSpc>
                <a:spcPts val="3249"/>
              </a:lnSpc>
            </a:pPr>
            <a:r>
              <a:rPr lang="en-US" sz="2599" b="1">
                <a:solidFill>
                  <a:srgbClr val="52586B"/>
                </a:solidFill>
                <a:latin typeface="Arimo Bold"/>
                <a:ea typeface="Arimo Bold"/>
                <a:cs typeface="Arimo Bold"/>
                <a:sym typeface="Arimo Bold"/>
              </a:rPr>
              <a:t>Prepare Clean Data</a:t>
            </a:r>
          </a:p>
        </p:txBody>
      </p:sp>
      <p:sp>
        <p:nvSpPr>
          <p:cNvPr id="27" name="TextBox 27"/>
          <p:cNvSpPr txBox="1"/>
          <p:nvPr/>
        </p:nvSpPr>
        <p:spPr>
          <a:xfrm>
            <a:off x="9342388" y="5859547"/>
            <a:ext cx="8277671" cy="418984"/>
          </a:xfrm>
          <a:prstGeom prst="rect">
            <a:avLst/>
          </a:prstGeom>
        </p:spPr>
        <p:txBody>
          <a:bodyPr lIns="0" tIns="0" rIns="0" bIns="0" rtlCol="0" anchor="t">
            <a:spAutoFit/>
          </a:bodyPr>
          <a:lstStyle/>
          <a:p>
            <a:pPr algn="l">
              <a:lnSpc>
                <a:spcPts val="3405"/>
              </a:lnSpc>
            </a:pPr>
            <a:r>
              <a:rPr lang="en-US" sz="2087">
                <a:solidFill>
                  <a:srgbClr val="52586B"/>
                </a:solidFill>
                <a:latin typeface="Arimo"/>
                <a:ea typeface="Arimo"/>
                <a:cs typeface="Arimo"/>
                <a:sym typeface="Arimo"/>
              </a:rPr>
              <a:t>Finalizing the dataset for model training.</a:t>
            </a:r>
          </a:p>
        </p:txBody>
      </p:sp>
      <p:grpSp>
        <p:nvGrpSpPr>
          <p:cNvPr id="28" name="Group 28"/>
          <p:cNvGrpSpPr>
            <a:grpSpLocks noChangeAspect="1"/>
          </p:cNvGrpSpPr>
          <p:nvPr/>
        </p:nvGrpSpPr>
        <p:grpSpPr>
          <a:xfrm>
            <a:off x="553010" y="6307106"/>
            <a:ext cx="9411146" cy="3379819"/>
            <a:chOff x="0" y="0"/>
            <a:chExt cx="13130457" cy="4715533"/>
          </a:xfrm>
        </p:grpSpPr>
        <p:sp>
          <p:nvSpPr>
            <p:cNvPr id="29" name="Freeform 29"/>
            <p:cNvSpPr/>
            <p:nvPr/>
          </p:nvSpPr>
          <p:spPr>
            <a:xfrm>
              <a:off x="0" y="0"/>
              <a:ext cx="13130403" cy="4715510"/>
            </a:xfrm>
            <a:custGeom>
              <a:avLst/>
              <a:gdLst/>
              <a:ahLst/>
              <a:cxnLst/>
              <a:rect l="l" t="t" r="r" b="b"/>
              <a:pathLst>
                <a:path w="13130403" h="4715510">
                  <a:moveTo>
                    <a:pt x="0" y="0"/>
                  </a:moveTo>
                  <a:lnTo>
                    <a:pt x="13130403" y="0"/>
                  </a:lnTo>
                  <a:lnTo>
                    <a:pt x="13130403" y="4715510"/>
                  </a:lnTo>
                  <a:lnTo>
                    <a:pt x="0" y="4715510"/>
                  </a:lnTo>
                  <a:lnTo>
                    <a:pt x="0" y="0"/>
                  </a:lnTo>
                  <a:close/>
                </a:path>
              </a:pathLst>
            </a:custGeom>
            <a:blipFill>
              <a:blip r:embed="rId4"/>
              <a:stretch>
                <a:fillRect/>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1028700" y="636240"/>
            <a:ext cx="8841284" cy="746820"/>
          </a:xfrm>
          <a:prstGeom prst="rect">
            <a:avLst/>
          </a:prstGeom>
        </p:spPr>
        <p:txBody>
          <a:bodyPr lIns="0" tIns="0" rIns="0" bIns="0" rtlCol="0" anchor="t">
            <a:spAutoFit/>
          </a:bodyPr>
          <a:lstStyle/>
          <a:p>
            <a:pPr algn="l">
              <a:lnSpc>
                <a:spcPts val="5562"/>
              </a:lnSpc>
            </a:pPr>
            <a:r>
              <a:rPr lang="en-US" sz="4437" b="1">
                <a:solidFill>
                  <a:srgbClr val="373B48"/>
                </a:solidFill>
                <a:latin typeface="Arimo Bold"/>
                <a:ea typeface="Arimo Bold"/>
                <a:cs typeface="Arimo Bold"/>
                <a:sym typeface="Arimo Bold"/>
              </a:rPr>
              <a:t>Exploratory Data Analysis (EDA)</a:t>
            </a:r>
          </a:p>
        </p:txBody>
      </p:sp>
      <p:sp>
        <p:nvSpPr>
          <p:cNvPr id="7" name="TextBox 7"/>
          <p:cNvSpPr txBox="1"/>
          <p:nvPr/>
        </p:nvSpPr>
        <p:spPr>
          <a:xfrm>
            <a:off x="1028700" y="1408219"/>
            <a:ext cx="16655083" cy="900428"/>
          </a:xfrm>
          <a:prstGeom prst="rect">
            <a:avLst/>
          </a:prstGeom>
        </p:spPr>
        <p:txBody>
          <a:bodyPr lIns="0" tIns="0" rIns="0" bIns="0" rtlCol="0" anchor="t">
            <a:spAutoFit/>
          </a:bodyPr>
          <a:lstStyle/>
          <a:p>
            <a:pPr algn="l">
              <a:lnSpc>
                <a:spcPts val="3642"/>
              </a:lnSpc>
            </a:pPr>
            <a:r>
              <a:rPr lang="en-US" sz="2266">
                <a:solidFill>
                  <a:srgbClr val="52586B"/>
                </a:solidFill>
                <a:latin typeface="Arimo"/>
                <a:ea typeface="Arimo"/>
                <a:cs typeface="Arimo"/>
                <a:sym typeface="Arimo"/>
              </a:rPr>
              <a:t>EDA was pivotal in uncovering underlying patterns and relationships within the data, providing insights into which features were most influential in salary determination.</a:t>
            </a:r>
          </a:p>
        </p:txBody>
      </p:sp>
      <p:sp>
        <p:nvSpPr>
          <p:cNvPr id="8" name="TextBox 8"/>
          <p:cNvSpPr txBox="1"/>
          <p:nvPr/>
        </p:nvSpPr>
        <p:spPr>
          <a:xfrm>
            <a:off x="11827850" y="2222923"/>
            <a:ext cx="4682293" cy="2378704"/>
          </a:xfrm>
          <a:prstGeom prst="rect">
            <a:avLst/>
          </a:prstGeom>
        </p:spPr>
        <p:txBody>
          <a:bodyPr lIns="0" tIns="0" rIns="0" bIns="0" rtlCol="0" anchor="t">
            <a:spAutoFit/>
          </a:bodyPr>
          <a:lstStyle/>
          <a:p>
            <a:pPr algn="l">
              <a:lnSpc>
                <a:spcPts val="3186"/>
              </a:lnSpc>
            </a:pPr>
            <a:r>
              <a:rPr lang="en-US" sz="1982">
                <a:solidFill>
                  <a:srgbClr val="52586B"/>
                </a:solidFill>
                <a:latin typeface="Arimo"/>
                <a:ea typeface="Arimo"/>
                <a:cs typeface="Arimo"/>
                <a:sym typeface="Arimo"/>
              </a:rPr>
              <a:t>Visualizations revealed clear trends, such as the positive correlation between years of experience and salary, and disparities across education levels and genders, guiding our feature engineering and model selection.</a:t>
            </a:r>
          </a:p>
        </p:txBody>
      </p:sp>
      <p:grpSp>
        <p:nvGrpSpPr>
          <p:cNvPr id="9" name="Group 9"/>
          <p:cNvGrpSpPr>
            <a:grpSpLocks noChangeAspect="1"/>
          </p:cNvGrpSpPr>
          <p:nvPr/>
        </p:nvGrpSpPr>
        <p:grpSpPr>
          <a:xfrm>
            <a:off x="381000" y="2277307"/>
            <a:ext cx="5091981" cy="3519140"/>
            <a:chOff x="0" y="0"/>
            <a:chExt cx="6789308" cy="4692187"/>
          </a:xfrm>
        </p:grpSpPr>
        <p:sp>
          <p:nvSpPr>
            <p:cNvPr id="10" name="Freeform 10"/>
            <p:cNvSpPr/>
            <p:nvPr/>
          </p:nvSpPr>
          <p:spPr>
            <a:xfrm>
              <a:off x="0" y="0"/>
              <a:ext cx="6789293" cy="4692142"/>
            </a:xfrm>
            <a:custGeom>
              <a:avLst/>
              <a:gdLst/>
              <a:ahLst/>
              <a:cxnLst/>
              <a:rect l="l" t="t" r="r" b="b"/>
              <a:pathLst>
                <a:path w="6789293" h="4692142">
                  <a:moveTo>
                    <a:pt x="0" y="0"/>
                  </a:moveTo>
                  <a:lnTo>
                    <a:pt x="6789293" y="0"/>
                  </a:lnTo>
                  <a:lnTo>
                    <a:pt x="6789293" y="4692142"/>
                  </a:lnTo>
                  <a:lnTo>
                    <a:pt x="0" y="4692142"/>
                  </a:lnTo>
                  <a:lnTo>
                    <a:pt x="0" y="0"/>
                  </a:lnTo>
                  <a:close/>
                </a:path>
              </a:pathLst>
            </a:custGeom>
            <a:blipFill>
              <a:blip r:embed="rId4"/>
              <a:stretch>
                <a:fillRect/>
              </a:stretch>
            </a:blipFill>
          </p:spPr>
        </p:sp>
      </p:grpSp>
      <p:grpSp>
        <p:nvGrpSpPr>
          <p:cNvPr id="11" name="Group 11"/>
          <p:cNvGrpSpPr>
            <a:grpSpLocks noChangeAspect="1"/>
          </p:cNvGrpSpPr>
          <p:nvPr/>
        </p:nvGrpSpPr>
        <p:grpSpPr>
          <a:xfrm>
            <a:off x="6105883" y="2063075"/>
            <a:ext cx="5089065" cy="3733372"/>
            <a:chOff x="0" y="0"/>
            <a:chExt cx="6940867" cy="5091867"/>
          </a:xfrm>
        </p:grpSpPr>
        <p:sp>
          <p:nvSpPr>
            <p:cNvPr id="12" name="Freeform 12"/>
            <p:cNvSpPr/>
            <p:nvPr/>
          </p:nvSpPr>
          <p:spPr>
            <a:xfrm>
              <a:off x="0" y="0"/>
              <a:ext cx="6940804" cy="5091811"/>
            </a:xfrm>
            <a:custGeom>
              <a:avLst/>
              <a:gdLst/>
              <a:ahLst/>
              <a:cxnLst/>
              <a:rect l="l" t="t" r="r" b="b"/>
              <a:pathLst>
                <a:path w="6940804" h="5091811">
                  <a:moveTo>
                    <a:pt x="0" y="0"/>
                  </a:moveTo>
                  <a:lnTo>
                    <a:pt x="6940804" y="0"/>
                  </a:lnTo>
                  <a:lnTo>
                    <a:pt x="6940804" y="5091811"/>
                  </a:lnTo>
                  <a:lnTo>
                    <a:pt x="0" y="5091811"/>
                  </a:lnTo>
                  <a:lnTo>
                    <a:pt x="0" y="0"/>
                  </a:lnTo>
                  <a:close/>
                </a:path>
              </a:pathLst>
            </a:custGeom>
            <a:blipFill>
              <a:blip r:embed="rId5"/>
              <a:stretch>
                <a:fillRect l="-2636" b="-1"/>
              </a:stretch>
            </a:blipFill>
          </p:spPr>
        </p:sp>
      </p:grpSp>
      <p:grpSp>
        <p:nvGrpSpPr>
          <p:cNvPr id="13" name="Group 13"/>
          <p:cNvGrpSpPr>
            <a:grpSpLocks noChangeAspect="1"/>
          </p:cNvGrpSpPr>
          <p:nvPr/>
        </p:nvGrpSpPr>
        <p:grpSpPr>
          <a:xfrm>
            <a:off x="5899905" y="5902596"/>
            <a:ext cx="5089065" cy="3626262"/>
            <a:chOff x="0" y="0"/>
            <a:chExt cx="6785420" cy="4835017"/>
          </a:xfrm>
        </p:grpSpPr>
        <p:sp>
          <p:nvSpPr>
            <p:cNvPr id="14" name="Freeform 14"/>
            <p:cNvSpPr/>
            <p:nvPr/>
          </p:nvSpPr>
          <p:spPr>
            <a:xfrm>
              <a:off x="0" y="0"/>
              <a:ext cx="6785483" cy="4835017"/>
            </a:xfrm>
            <a:custGeom>
              <a:avLst/>
              <a:gdLst/>
              <a:ahLst/>
              <a:cxnLst/>
              <a:rect l="l" t="t" r="r" b="b"/>
              <a:pathLst>
                <a:path w="6785483" h="4835017">
                  <a:moveTo>
                    <a:pt x="0" y="0"/>
                  </a:moveTo>
                  <a:lnTo>
                    <a:pt x="6785483" y="0"/>
                  </a:lnTo>
                  <a:lnTo>
                    <a:pt x="6785483" y="4835017"/>
                  </a:lnTo>
                  <a:lnTo>
                    <a:pt x="0" y="4835017"/>
                  </a:lnTo>
                  <a:lnTo>
                    <a:pt x="0" y="0"/>
                  </a:lnTo>
                  <a:close/>
                </a:path>
              </a:pathLst>
            </a:custGeom>
            <a:blipFill>
              <a:blip r:embed="rId6"/>
              <a:stretch>
                <a:fillRect l="-2362"/>
              </a:stretch>
            </a:blipFill>
          </p:spPr>
        </p:sp>
      </p:grpSp>
      <p:grpSp>
        <p:nvGrpSpPr>
          <p:cNvPr id="15" name="Group 15"/>
          <p:cNvGrpSpPr>
            <a:grpSpLocks noChangeAspect="1"/>
          </p:cNvGrpSpPr>
          <p:nvPr/>
        </p:nvGrpSpPr>
        <p:grpSpPr>
          <a:xfrm>
            <a:off x="564081" y="5855611"/>
            <a:ext cx="4725819" cy="3626262"/>
            <a:chOff x="0" y="0"/>
            <a:chExt cx="6301092" cy="4835017"/>
          </a:xfrm>
        </p:grpSpPr>
        <p:sp>
          <p:nvSpPr>
            <p:cNvPr id="16" name="Freeform 16"/>
            <p:cNvSpPr/>
            <p:nvPr/>
          </p:nvSpPr>
          <p:spPr>
            <a:xfrm>
              <a:off x="0" y="0"/>
              <a:ext cx="6301105" cy="4835017"/>
            </a:xfrm>
            <a:custGeom>
              <a:avLst/>
              <a:gdLst/>
              <a:ahLst/>
              <a:cxnLst/>
              <a:rect l="l" t="t" r="r" b="b"/>
              <a:pathLst>
                <a:path w="6301105" h="4835017">
                  <a:moveTo>
                    <a:pt x="0" y="0"/>
                  </a:moveTo>
                  <a:lnTo>
                    <a:pt x="6301105" y="0"/>
                  </a:lnTo>
                  <a:lnTo>
                    <a:pt x="6301105" y="4835017"/>
                  </a:lnTo>
                  <a:lnTo>
                    <a:pt x="0" y="4835017"/>
                  </a:lnTo>
                  <a:lnTo>
                    <a:pt x="0" y="0"/>
                  </a:lnTo>
                  <a:close/>
                </a:path>
              </a:pathLst>
            </a:custGeom>
            <a:blipFill>
              <a:blip r:embed="rId7"/>
              <a:stretch>
                <a:fillRect l="-4911" r="-4911"/>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92238" y="742355"/>
            <a:ext cx="9707910" cy="845046"/>
          </a:xfrm>
          <a:prstGeom prst="rect">
            <a:avLst/>
          </a:prstGeom>
        </p:spPr>
        <p:txBody>
          <a:bodyPr lIns="0" tIns="0" rIns="0" bIns="0" rtlCol="0" anchor="t">
            <a:spAutoFit/>
          </a:bodyPr>
          <a:lstStyle/>
          <a:p>
            <a:pPr algn="l">
              <a:lnSpc>
                <a:spcPts val="6249"/>
              </a:lnSpc>
            </a:pPr>
            <a:r>
              <a:rPr lang="en-US" sz="4999" b="1">
                <a:solidFill>
                  <a:srgbClr val="373B48"/>
                </a:solidFill>
                <a:latin typeface="Arimo Bold"/>
                <a:ea typeface="Arimo Bold"/>
                <a:cs typeface="Arimo Bold"/>
                <a:sym typeface="Arimo Bold"/>
              </a:rPr>
              <a:t>Models Employed for Prediction</a:t>
            </a:r>
          </a:p>
        </p:txBody>
      </p:sp>
      <p:sp>
        <p:nvSpPr>
          <p:cNvPr id="7" name="TextBox 7"/>
          <p:cNvSpPr txBox="1"/>
          <p:nvPr/>
        </p:nvSpPr>
        <p:spPr>
          <a:xfrm>
            <a:off x="992237" y="1992958"/>
            <a:ext cx="16303526" cy="904202"/>
          </a:xfrm>
          <a:prstGeom prst="rect">
            <a:avLst/>
          </a:prstGeom>
        </p:spPr>
        <p:txBody>
          <a:bodyPr lIns="0" tIns="0" rIns="0" bIns="0" rtlCol="0" anchor="t">
            <a:spAutoFit/>
          </a:bodyPr>
          <a:lstStyle/>
          <a:p>
            <a:pPr algn="l">
              <a:lnSpc>
                <a:spcPts val="3665"/>
              </a:lnSpc>
            </a:pPr>
            <a:r>
              <a:rPr lang="en-US" sz="2299">
                <a:solidFill>
                  <a:srgbClr val="52586B"/>
                </a:solidFill>
                <a:latin typeface="Arimo"/>
                <a:ea typeface="Arimo"/>
                <a:cs typeface="Arimo"/>
                <a:sym typeface="Arimo"/>
              </a:rPr>
              <a:t>To ensure robustness and optimize prediction accuracy, we explored a range of regression models, each offering unique strengths. Our evaluation focused on key metrics to determine the best fit for our salary prediction task.</a:t>
            </a:r>
          </a:p>
        </p:txBody>
      </p:sp>
      <p:grpSp>
        <p:nvGrpSpPr>
          <p:cNvPr id="8" name="Group 8"/>
          <p:cNvGrpSpPr/>
          <p:nvPr/>
        </p:nvGrpSpPr>
        <p:grpSpPr>
          <a:xfrm>
            <a:off x="992238" y="3584079"/>
            <a:ext cx="8024217" cy="1881485"/>
            <a:chOff x="0" y="0"/>
            <a:chExt cx="10698957" cy="2508647"/>
          </a:xfrm>
        </p:grpSpPr>
        <p:sp>
          <p:nvSpPr>
            <p:cNvPr id="9" name="Freeform 9"/>
            <p:cNvSpPr/>
            <p:nvPr/>
          </p:nvSpPr>
          <p:spPr>
            <a:xfrm>
              <a:off x="0" y="0"/>
              <a:ext cx="10698988" cy="2508631"/>
            </a:xfrm>
            <a:custGeom>
              <a:avLst/>
              <a:gdLst/>
              <a:ahLst/>
              <a:cxnLst/>
              <a:rect l="l" t="t" r="r" b="b"/>
              <a:pathLst>
                <a:path w="10698988" h="2508631">
                  <a:moveTo>
                    <a:pt x="0" y="182880"/>
                  </a:moveTo>
                  <a:cubicBezTo>
                    <a:pt x="0" y="81915"/>
                    <a:pt x="81915" y="0"/>
                    <a:pt x="182880" y="0"/>
                  </a:cubicBezTo>
                  <a:lnTo>
                    <a:pt x="10516108" y="0"/>
                  </a:lnTo>
                  <a:cubicBezTo>
                    <a:pt x="10617073" y="0"/>
                    <a:pt x="10698988" y="81915"/>
                    <a:pt x="10698988" y="182880"/>
                  </a:cubicBezTo>
                  <a:lnTo>
                    <a:pt x="10698988" y="2325751"/>
                  </a:lnTo>
                  <a:cubicBezTo>
                    <a:pt x="10698988" y="2426716"/>
                    <a:pt x="10617073" y="2508631"/>
                    <a:pt x="10516108" y="2508631"/>
                  </a:cubicBezTo>
                  <a:lnTo>
                    <a:pt x="182880" y="2508631"/>
                  </a:lnTo>
                  <a:cubicBezTo>
                    <a:pt x="81915" y="2508631"/>
                    <a:pt x="0" y="2426716"/>
                    <a:pt x="0" y="2325751"/>
                  </a:cubicBezTo>
                  <a:close/>
                </a:path>
              </a:pathLst>
            </a:custGeom>
            <a:solidFill>
              <a:srgbClr val="FFFFFF">
                <a:alpha val="90196"/>
              </a:srgbClr>
            </a:solidFill>
          </p:spPr>
        </p:sp>
      </p:grpSp>
      <p:grpSp>
        <p:nvGrpSpPr>
          <p:cNvPr id="10" name="Group 10"/>
          <p:cNvGrpSpPr/>
          <p:nvPr/>
        </p:nvGrpSpPr>
        <p:grpSpPr>
          <a:xfrm>
            <a:off x="992238" y="3555504"/>
            <a:ext cx="8024217" cy="114300"/>
            <a:chOff x="0" y="0"/>
            <a:chExt cx="10698957" cy="152400"/>
          </a:xfrm>
        </p:grpSpPr>
        <p:sp>
          <p:nvSpPr>
            <p:cNvPr id="11" name="Freeform 11"/>
            <p:cNvSpPr/>
            <p:nvPr/>
          </p:nvSpPr>
          <p:spPr>
            <a:xfrm>
              <a:off x="0" y="0"/>
              <a:ext cx="10698988" cy="152400"/>
            </a:xfrm>
            <a:custGeom>
              <a:avLst/>
              <a:gdLst/>
              <a:ahLst/>
              <a:cxnLst/>
              <a:rect l="l" t="t" r="r" b="b"/>
              <a:pathLst>
                <a:path w="10698988" h="152400">
                  <a:moveTo>
                    <a:pt x="0" y="76200"/>
                  </a:moveTo>
                  <a:cubicBezTo>
                    <a:pt x="0" y="34163"/>
                    <a:pt x="34163" y="0"/>
                    <a:pt x="76200" y="0"/>
                  </a:cubicBezTo>
                  <a:lnTo>
                    <a:pt x="10622788" y="0"/>
                  </a:lnTo>
                  <a:cubicBezTo>
                    <a:pt x="10664825" y="0"/>
                    <a:pt x="10698988" y="34163"/>
                    <a:pt x="10698988" y="76200"/>
                  </a:cubicBezTo>
                  <a:cubicBezTo>
                    <a:pt x="10698988" y="118237"/>
                    <a:pt x="10664825" y="152400"/>
                    <a:pt x="10622788" y="152400"/>
                  </a:cubicBezTo>
                  <a:lnTo>
                    <a:pt x="76200" y="152400"/>
                  </a:lnTo>
                  <a:cubicBezTo>
                    <a:pt x="34163" y="152400"/>
                    <a:pt x="0" y="118237"/>
                    <a:pt x="0" y="76200"/>
                  </a:cubicBezTo>
                  <a:close/>
                </a:path>
              </a:pathLst>
            </a:custGeom>
            <a:solidFill>
              <a:srgbClr val="373B48"/>
            </a:solidFill>
          </p:spPr>
        </p:sp>
      </p:grpSp>
      <p:grpSp>
        <p:nvGrpSpPr>
          <p:cNvPr id="12" name="Group 12"/>
          <p:cNvGrpSpPr/>
          <p:nvPr/>
        </p:nvGrpSpPr>
        <p:grpSpPr>
          <a:xfrm>
            <a:off x="4621634" y="3201441"/>
            <a:ext cx="765422" cy="765422"/>
            <a:chOff x="0" y="0"/>
            <a:chExt cx="1020563" cy="1020563"/>
          </a:xfrm>
        </p:grpSpPr>
        <p:sp>
          <p:nvSpPr>
            <p:cNvPr id="13" name="Freeform 13"/>
            <p:cNvSpPr/>
            <p:nvPr/>
          </p:nvSpPr>
          <p:spPr>
            <a:xfrm>
              <a:off x="0" y="0"/>
              <a:ext cx="1020572" cy="1020572"/>
            </a:xfrm>
            <a:custGeom>
              <a:avLst/>
              <a:gdLst/>
              <a:ahLst/>
              <a:cxnLst/>
              <a:rect l="l" t="t" r="r" b="b"/>
              <a:pathLst>
                <a:path w="1020572" h="1020572">
                  <a:moveTo>
                    <a:pt x="0" y="510286"/>
                  </a:moveTo>
                  <a:cubicBezTo>
                    <a:pt x="0" y="228473"/>
                    <a:pt x="228473" y="0"/>
                    <a:pt x="510286" y="0"/>
                  </a:cubicBezTo>
                  <a:cubicBezTo>
                    <a:pt x="792099" y="0"/>
                    <a:pt x="1020572" y="228473"/>
                    <a:pt x="1020572" y="510286"/>
                  </a:cubicBezTo>
                  <a:cubicBezTo>
                    <a:pt x="1020572" y="792099"/>
                    <a:pt x="792099" y="1020572"/>
                    <a:pt x="510286" y="1020572"/>
                  </a:cubicBezTo>
                  <a:cubicBezTo>
                    <a:pt x="228473" y="1020572"/>
                    <a:pt x="0" y="792099"/>
                    <a:pt x="0" y="510286"/>
                  </a:cubicBezTo>
                  <a:close/>
                </a:path>
              </a:pathLst>
            </a:custGeom>
            <a:solidFill>
              <a:srgbClr val="373B48"/>
            </a:solidFill>
          </p:spPr>
        </p:sp>
      </p:grpSp>
      <p:sp>
        <p:nvSpPr>
          <p:cNvPr id="14" name="Freeform 14" descr="preencoded.png"/>
          <p:cNvSpPr/>
          <p:nvPr/>
        </p:nvSpPr>
        <p:spPr>
          <a:xfrm>
            <a:off x="4851276" y="3431084"/>
            <a:ext cx="306140" cy="306140"/>
          </a:xfrm>
          <a:custGeom>
            <a:avLst/>
            <a:gdLst/>
            <a:ahLst/>
            <a:cxnLst/>
            <a:rect l="l" t="t" r="r" b="b"/>
            <a:pathLst>
              <a:path w="306140" h="306140">
                <a:moveTo>
                  <a:pt x="0" y="0"/>
                </a:moveTo>
                <a:lnTo>
                  <a:pt x="306140" y="0"/>
                </a:lnTo>
                <a:lnTo>
                  <a:pt x="306140" y="306140"/>
                </a:lnTo>
                <a:lnTo>
                  <a:pt x="0" y="306140"/>
                </a:lnTo>
                <a:lnTo>
                  <a:pt x="0" y="0"/>
                </a:lnTo>
                <a:close/>
              </a:path>
            </a:pathLst>
          </a:custGeom>
          <a:blipFill>
            <a:blip r:embed="rId4">
              <a:extLst>
                <a:ext uri="{96DAC541-7B7A-43D3-8B79-37D633B846F1}">
                  <asvg:svgBlip xmlns:asvg="http://schemas.microsoft.com/office/drawing/2016/SVG/main" r:embed="rId5"/>
                </a:ext>
              </a:extLst>
            </a:blip>
            <a:stretch>
              <a:fillRect l="-4545" r="-4545"/>
            </a:stretch>
          </a:blipFill>
        </p:spPr>
      </p:sp>
      <p:sp>
        <p:nvSpPr>
          <p:cNvPr id="15" name="TextBox 15"/>
          <p:cNvSpPr txBox="1"/>
          <p:nvPr/>
        </p:nvSpPr>
        <p:spPr>
          <a:xfrm>
            <a:off x="1275904" y="4193381"/>
            <a:ext cx="3189685" cy="427136"/>
          </a:xfrm>
          <a:prstGeom prst="rect">
            <a:avLst/>
          </a:prstGeom>
        </p:spPr>
        <p:txBody>
          <a:bodyPr lIns="0" tIns="0" rIns="0" bIns="0" rtlCol="0" anchor="t">
            <a:spAutoFit/>
          </a:bodyPr>
          <a:lstStyle/>
          <a:p>
            <a:pPr algn="l">
              <a:lnSpc>
                <a:spcPts val="3124"/>
              </a:lnSpc>
            </a:pPr>
            <a:r>
              <a:rPr lang="en-US" sz="2499" b="1">
                <a:solidFill>
                  <a:srgbClr val="52586B"/>
                </a:solidFill>
                <a:latin typeface="Arimo Bold"/>
                <a:ea typeface="Arimo Bold"/>
                <a:cs typeface="Arimo Bold"/>
                <a:sym typeface="Arimo Bold"/>
              </a:rPr>
              <a:t>Linear Regression</a:t>
            </a:r>
          </a:p>
        </p:txBody>
      </p:sp>
      <p:sp>
        <p:nvSpPr>
          <p:cNvPr id="16" name="TextBox 16"/>
          <p:cNvSpPr txBox="1"/>
          <p:nvPr/>
        </p:nvSpPr>
        <p:spPr>
          <a:xfrm>
            <a:off x="1275904" y="4697314"/>
            <a:ext cx="7456885" cy="484585"/>
          </a:xfrm>
          <a:prstGeom prst="rect">
            <a:avLst/>
          </a:prstGeom>
        </p:spPr>
        <p:txBody>
          <a:bodyPr lIns="0" tIns="0" rIns="0" bIns="0" rtlCol="0" anchor="t">
            <a:spAutoFit/>
          </a:bodyPr>
          <a:lstStyle/>
          <a:p>
            <a:pPr algn="l">
              <a:lnSpc>
                <a:spcPts val="3187"/>
              </a:lnSpc>
            </a:pPr>
            <a:r>
              <a:rPr lang="en-US" sz="2000">
                <a:solidFill>
                  <a:srgbClr val="52586B"/>
                </a:solidFill>
                <a:latin typeface="Arimo"/>
                <a:ea typeface="Arimo"/>
                <a:cs typeface="Arimo"/>
                <a:sym typeface="Arimo"/>
              </a:rPr>
              <a:t>The baseline model, providing interpretable coefficients.</a:t>
            </a:r>
          </a:p>
        </p:txBody>
      </p:sp>
      <p:grpSp>
        <p:nvGrpSpPr>
          <p:cNvPr id="17" name="Group 17"/>
          <p:cNvGrpSpPr/>
          <p:nvPr/>
        </p:nvGrpSpPr>
        <p:grpSpPr>
          <a:xfrm>
            <a:off x="9271546" y="3584079"/>
            <a:ext cx="8024217" cy="1881485"/>
            <a:chOff x="0" y="0"/>
            <a:chExt cx="10698957" cy="2508647"/>
          </a:xfrm>
        </p:grpSpPr>
        <p:sp>
          <p:nvSpPr>
            <p:cNvPr id="18" name="Freeform 18"/>
            <p:cNvSpPr/>
            <p:nvPr/>
          </p:nvSpPr>
          <p:spPr>
            <a:xfrm>
              <a:off x="0" y="0"/>
              <a:ext cx="10698988" cy="2508631"/>
            </a:xfrm>
            <a:custGeom>
              <a:avLst/>
              <a:gdLst/>
              <a:ahLst/>
              <a:cxnLst/>
              <a:rect l="l" t="t" r="r" b="b"/>
              <a:pathLst>
                <a:path w="10698988" h="2508631">
                  <a:moveTo>
                    <a:pt x="0" y="182880"/>
                  </a:moveTo>
                  <a:cubicBezTo>
                    <a:pt x="0" y="81915"/>
                    <a:pt x="81915" y="0"/>
                    <a:pt x="182880" y="0"/>
                  </a:cubicBezTo>
                  <a:lnTo>
                    <a:pt x="10516108" y="0"/>
                  </a:lnTo>
                  <a:cubicBezTo>
                    <a:pt x="10617073" y="0"/>
                    <a:pt x="10698988" y="81915"/>
                    <a:pt x="10698988" y="182880"/>
                  </a:cubicBezTo>
                  <a:lnTo>
                    <a:pt x="10698988" y="2325751"/>
                  </a:lnTo>
                  <a:cubicBezTo>
                    <a:pt x="10698988" y="2426716"/>
                    <a:pt x="10617073" y="2508631"/>
                    <a:pt x="10516108" y="2508631"/>
                  </a:cubicBezTo>
                  <a:lnTo>
                    <a:pt x="182880" y="2508631"/>
                  </a:lnTo>
                  <a:cubicBezTo>
                    <a:pt x="81915" y="2508631"/>
                    <a:pt x="0" y="2426716"/>
                    <a:pt x="0" y="2325751"/>
                  </a:cubicBezTo>
                  <a:close/>
                </a:path>
              </a:pathLst>
            </a:custGeom>
            <a:solidFill>
              <a:srgbClr val="FFFFFF">
                <a:alpha val="90196"/>
              </a:srgbClr>
            </a:solidFill>
          </p:spPr>
        </p:sp>
      </p:grpSp>
      <p:grpSp>
        <p:nvGrpSpPr>
          <p:cNvPr id="19" name="Group 19"/>
          <p:cNvGrpSpPr/>
          <p:nvPr/>
        </p:nvGrpSpPr>
        <p:grpSpPr>
          <a:xfrm>
            <a:off x="9271546" y="3555504"/>
            <a:ext cx="8024217" cy="114300"/>
            <a:chOff x="0" y="0"/>
            <a:chExt cx="10698957" cy="152400"/>
          </a:xfrm>
        </p:grpSpPr>
        <p:sp>
          <p:nvSpPr>
            <p:cNvPr id="20" name="Freeform 20"/>
            <p:cNvSpPr/>
            <p:nvPr/>
          </p:nvSpPr>
          <p:spPr>
            <a:xfrm>
              <a:off x="0" y="0"/>
              <a:ext cx="10698988" cy="152400"/>
            </a:xfrm>
            <a:custGeom>
              <a:avLst/>
              <a:gdLst/>
              <a:ahLst/>
              <a:cxnLst/>
              <a:rect l="l" t="t" r="r" b="b"/>
              <a:pathLst>
                <a:path w="10698988" h="152400">
                  <a:moveTo>
                    <a:pt x="0" y="76200"/>
                  </a:moveTo>
                  <a:cubicBezTo>
                    <a:pt x="0" y="34163"/>
                    <a:pt x="34163" y="0"/>
                    <a:pt x="76200" y="0"/>
                  </a:cubicBezTo>
                  <a:lnTo>
                    <a:pt x="10622788" y="0"/>
                  </a:lnTo>
                  <a:cubicBezTo>
                    <a:pt x="10664825" y="0"/>
                    <a:pt x="10698988" y="34163"/>
                    <a:pt x="10698988" y="76200"/>
                  </a:cubicBezTo>
                  <a:cubicBezTo>
                    <a:pt x="10698988" y="118237"/>
                    <a:pt x="10664825" y="152400"/>
                    <a:pt x="10622788" y="152400"/>
                  </a:cubicBezTo>
                  <a:lnTo>
                    <a:pt x="76200" y="152400"/>
                  </a:lnTo>
                  <a:cubicBezTo>
                    <a:pt x="34163" y="152400"/>
                    <a:pt x="0" y="118237"/>
                    <a:pt x="0" y="76200"/>
                  </a:cubicBezTo>
                  <a:close/>
                </a:path>
              </a:pathLst>
            </a:custGeom>
            <a:solidFill>
              <a:srgbClr val="373B48"/>
            </a:solidFill>
          </p:spPr>
        </p:sp>
      </p:grpSp>
      <p:grpSp>
        <p:nvGrpSpPr>
          <p:cNvPr id="21" name="Group 21"/>
          <p:cNvGrpSpPr/>
          <p:nvPr/>
        </p:nvGrpSpPr>
        <p:grpSpPr>
          <a:xfrm>
            <a:off x="12900942" y="3201441"/>
            <a:ext cx="765422" cy="765422"/>
            <a:chOff x="0" y="0"/>
            <a:chExt cx="1020563" cy="1020563"/>
          </a:xfrm>
        </p:grpSpPr>
        <p:sp>
          <p:nvSpPr>
            <p:cNvPr id="22" name="Freeform 22"/>
            <p:cNvSpPr/>
            <p:nvPr/>
          </p:nvSpPr>
          <p:spPr>
            <a:xfrm>
              <a:off x="0" y="0"/>
              <a:ext cx="1020572" cy="1020572"/>
            </a:xfrm>
            <a:custGeom>
              <a:avLst/>
              <a:gdLst/>
              <a:ahLst/>
              <a:cxnLst/>
              <a:rect l="l" t="t" r="r" b="b"/>
              <a:pathLst>
                <a:path w="1020572" h="1020572">
                  <a:moveTo>
                    <a:pt x="0" y="510286"/>
                  </a:moveTo>
                  <a:cubicBezTo>
                    <a:pt x="0" y="228473"/>
                    <a:pt x="228473" y="0"/>
                    <a:pt x="510286" y="0"/>
                  </a:cubicBezTo>
                  <a:cubicBezTo>
                    <a:pt x="792099" y="0"/>
                    <a:pt x="1020572" y="228473"/>
                    <a:pt x="1020572" y="510286"/>
                  </a:cubicBezTo>
                  <a:cubicBezTo>
                    <a:pt x="1020572" y="792099"/>
                    <a:pt x="792099" y="1020572"/>
                    <a:pt x="510286" y="1020572"/>
                  </a:cubicBezTo>
                  <a:cubicBezTo>
                    <a:pt x="228473" y="1020572"/>
                    <a:pt x="0" y="792099"/>
                    <a:pt x="0" y="510286"/>
                  </a:cubicBezTo>
                  <a:close/>
                </a:path>
              </a:pathLst>
            </a:custGeom>
            <a:solidFill>
              <a:srgbClr val="373B48"/>
            </a:solidFill>
          </p:spPr>
        </p:sp>
      </p:grpSp>
      <p:sp>
        <p:nvSpPr>
          <p:cNvPr id="23" name="Freeform 23" descr="preencoded.png"/>
          <p:cNvSpPr/>
          <p:nvPr/>
        </p:nvSpPr>
        <p:spPr>
          <a:xfrm>
            <a:off x="13130585" y="3431084"/>
            <a:ext cx="306140" cy="306140"/>
          </a:xfrm>
          <a:custGeom>
            <a:avLst/>
            <a:gdLst/>
            <a:ahLst/>
            <a:cxnLst/>
            <a:rect l="l" t="t" r="r" b="b"/>
            <a:pathLst>
              <a:path w="306140" h="306140">
                <a:moveTo>
                  <a:pt x="0" y="0"/>
                </a:moveTo>
                <a:lnTo>
                  <a:pt x="306140" y="0"/>
                </a:lnTo>
                <a:lnTo>
                  <a:pt x="306140" y="306140"/>
                </a:lnTo>
                <a:lnTo>
                  <a:pt x="0" y="306140"/>
                </a:lnTo>
                <a:lnTo>
                  <a:pt x="0" y="0"/>
                </a:lnTo>
                <a:close/>
              </a:path>
            </a:pathLst>
          </a:custGeom>
          <a:blipFill>
            <a:blip r:embed="rId6">
              <a:extLst>
                <a:ext uri="{96DAC541-7B7A-43D3-8B79-37D633B846F1}">
                  <asvg:svgBlip xmlns:asvg="http://schemas.microsoft.com/office/drawing/2016/SVG/main" r:embed="rId7"/>
                </a:ext>
              </a:extLst>
            </a:blip>
            <a:stretch>
              <a:fillRect t="-12121" b="-12121"/>
            </a:stretch>
          </a:blipFill>
        </p:spPr>
      </p:sp>
      <p:sp>
        <p:nvSpPr>
          <p:cNvPr id="24" name="TextBox 24"/>
          <p:cNvSpPr txBox="1"/>
          <p:nvPr/>
        </p:nvSpPr>
        <p:spPr>
          <a:xfrm>
            <a:off x="9497994" y="3938289"/>
            <a:ext cx="3692278" cy="427136"/>
          </a:xfrm>
          <a:prstGeom prst="rect">
            <a:avLst/>
          </a:prstGeom>
        </p:spPr>
        <p:txBody>
          <a:bodyPr lIns="0" tIns="0" rIns="0" bIns="0" rtlCol="0" anchor="t">
            <a:spAutoFit/>
          </a:bodyPr>
          <a:lstStyle/>
          <a:p>
            <a:pPr algn="l">
              <a:lnSpc>
                <a:spcPts val="3124"/>
              </a:lnSpc>
            </a:pPr>
            <a:r>
              <a:rPr lang="en-US" sz="2499" b="1">
                <a:solidFill>
                  <a:srgbClr val="52586B"/>
                </a:solidFill>
                <a:latin typeface="Arimo Bold"/>
                <a:ea typeface="Arimo Bold"/>
                <a:cs typeface="Arimo Bold"/>
                <a:sym typeface="Arimo Bold"/>
              </a:rPr>
              <a:t>Decision Tree Regressor</a:t>
            </a:r>
          </a:p>
        </p:txBody>
      </p:sp>
      <p:sp>
        <p:nvSpPr>
          <p:cNvPr id="25" name="TextBox 25"/>
          <p:cNvSpPr txBox="1"/>
          <p:nvPr/>
        </p:nvSpPr>
        <p:spPr>
          <a:xfrm>
            <a:off x="9497994" y="4668739"/>
            <a:ext cx="6493806" cy="950996"/>
          </a:xfrm>
          <a:prstGeom prst="rect">
            <a:avLst/>
          </a:prstGeom>
        </p:spPr>
        <p:txBody>
          <a:bodyPr lIns="0" tIns="0" rIns="0" bIns="0" rtlCol="0" anchor="t">
            <a:spAutoFit/>
          </a:bodyPr>
          <a:lstStyle/>
          <a:p>
            <a:pPr algn="l">
              <a:lnSpc>
                <a:spcPts val="3853"/>
              </a:lnSpc>
            </a:pPr>
            <a:r>
              <a:rPr lang="en-US" sz="2417">
                <a:solidFill>
                  <a:srgbClr val="52586B"/>
                </a:solidFill>
                <a:latin typeface="Arimo"/>
                <a:ea typeface="Arimo"/>
                <a:cs typeface="Arimo"/>
                <a:sym typeface="Arimo"/>
              </a:rPr>
              <a:t>Captures non-linear relationships and interactions.</a:t>
            </a:r>
          </a:p>
        </p:txBody>
      </p:sp>
      <p:grpSp>
        <p:nvGrpSpPr>
          <p:cNvPr id="26" name="Group 26"/>
          <p:cNvGrpSpPr/>
          <p:nvPr/>
        </p:nvGrpSpPr>
        <p:grpSpPr>
          <a:xfrm>
            <a:off x="992238" y="6103292"/>
            <a:ext cx="8024217" cy="2289870"/>
            <a:chOff x="0" y="0"/>
            <a:chExt cx="10698957" cy="3053160"/>
          </a:xfrm>
        </p:grpSpPr>
        <p:sp>
          <p:nvSpPr>
            <p:cNvPr id="27" name="Freeform 27"/>
            <p:cNvSpPr/>
            <p:nvPr/>
          </p:nvSpPr>
          <p:spPr>
            <a:xfrm>
              <a:off x="0" y="0"/>
              <a:ext cx="10698988" cy="3053207"/>
            </a:xfrm>
            <a:custGeom>
              <a:avLst/>
              <a:gdLst/>
              <a:ahLst/>
              <a:cxnLst/>
              <a:rect l="l" t="t" r="r" b="b"/>
              <a:pathLst>
                <a:path w="10698988" h="3053207">
                  <a:moveTo>
                    <a:pt x="0" y="182880"/>
                  </a:moveTo>
                  <a:cubicBezTo>
                    <a:pt x="0" y="81915"/>
                    <a:pt x="81915" y="0"/>
                    <a:pt x="182880" y="0"/>
                  </a:cubicBezTo>
                  <a:lnTo>
                    <a:pt x="10516108" y="0"/>
                  </a:lnTo>
                  <a:cubicBezTo>
                    <a:pt x="10617073" y="0"/>
                    <a:pt x="10698988" y="81915"/>
                    <a:pt x="10698988" y="182880"/>
                  </a:cubicBezTo>
                  <a:lnTo>
                    <a:pt x="10698988" y="2870327"/>
                  </a:lnTo>
                  <a:cubicBezTo>
                    <a:pt x="10698988" y="2971292"/>
                    <a:pt x="10617073" y="3053207"/>
                    <a:pt x="10516108" y="3053207"/>
                  </a:cubicBezTo>
                  <a:lnTo>
                    <a:pt x="182880" y="3053207"/>
                  </a:lnTo>
                  <a:cubicBezTo>
                    <a:pt x="81915" y="3053207"/>
                    <a:pt x="0" y="2971292"/>
                    <a:pt x="0" y="2870327"/>
                  </a:cubicBezTo>
                  <a:close/>
                </a:path>
              </a:pathLst>
            </a:custGeom>
            <a:solidFill>
              <a:srgbClr val="FFFFFF">
                <a:alpha val="90196"/>
              </a:srgbClr>
            </a:solidFill>
          </p:spPr>
        </p:sp>
      </p:grpSp>
      <p:grpSp>
        <p:nvGrpSpPr>
          <p:cNvPr id="28" name="Group 28"/>
          <p:cNvGrpSpPr/>
          <p:nvPr/>
        </p:nvGrpSpPr>
        <p:grpSpPr>
          <a:xfrm>
            <a:off x="992238" y="6074717"/>
            <a:ext cx="8024217" cy="114300"/>
            <a:chOff x="0" y="0"/>
            <a:chExt cx="10698957" cy="152400"/>
          </a:xfrm>
        </p:grpSpPr>
        <p:sp>
          <p:nvSpPr>
            <p:cNvPr id="29" name="Freeform 29"/>
            <p:cNvSpPr/>
            <p:nvPr/>
          </p:nvSpPr>
          <p:spPr>
            <a:xfrm>
              <a:off x="0" y="0"/>
              <a:ext cx="10698988" cy="152400"/>
            </a:xfrm>
            <a:custGeom>
              <a:avLst/>
              <a:gdLst/>
              <a:ahLst/>
              <a:cxnLst/>
              <a:rect l="l" t="t" r="r" b="b"/>
              <a:pathLst>
                <a:path w="10698988" h="152400">
                  <a:moveTo>
                    <a:pt x="0" y="76200"/>
                  </a:moveTo>
                  <a:cubicBezTo>
                    <a:pt x="0" y="34163"/>
                    <a:pt x="34163" y="0"/>
                    <a:pt x="76200" y="0"/>
                  </a:cubicBezTo>
                  <a:lnTo>
                    <a:pt x="10622788" y="0"/>
                  </a:lnTo>
                  <a:cubicBezTo>
                    <a:pt x="10664825" y="0"/>
                    <a:pt x="10698988" y="34163"/>
                    <a:pt x="10698988" y="76200"/>
                  </a:cubicBezTo>
                  <a:cubicBezTo>
                    <a:pt x="10698988" y="118237"/>
                    <a:pt x="10664825" y="152400"/>
                    <a:pt x="10622788" y="152400"/>
                  </a:cubicBezTo>
                  <a:lnTo>
                    <a:pt x="76200" y="152400"/>
                  </a:lnTo>
                  <a:cubicBezTo>
                    <a:pt x="34163" y="152400"/>
                    <a:pt x="0" y="118237"/>
                    <a:pt x="0" y="76200"/>
                  </a:cubicBezTo>
                  <a:close/>
                </a:path>
              </a:pathLst>
            </a:custGeom>
            <a:solidFill>
              <a:srgbClr val="373B48"/>
            </a:solidFill>
          </p:spPr>
        </p:sp>
      </p:grpSp>
      <p:grpSp>
        <p:nvGrpSpPr>
          <p:cNvPr id="30" name="Group 30"/>
          <p:cNvGrpSpPr/>
          <p:nvPr/>
        </p:nvGrpSpPr>
        <p:grpSpPr>
          <a:xfrm>
            <a:off x="4621634" y="5720655"/>
            <a:ext cx="765422" cy="765422"/>
            <a:chOff x="0" y="0"/>
            <a:chExt cx="1020563" cy="1020563"/>
          </a:xfrm>
        </p:grpSpPr>
        <p:sp>
          <p:nvSpPr>
            <p:cNvPr id="31" name="Freeform 31"/>
            <p:cNvSpPr/>
            <p:nvPr/>
          </p:nvSpPr>
          <p:spPr>
            <a:xfrm>
              <a:off x="0" y="0"/>
              <a:ext cx="1020572" cy="1020572"/>
            </a:xfrm>
            <a:custGeom>
              <a:avLst/>
              <a:gdLst/>
              <a:ahLst/>
              <a:cxnLst/>
              <a:rect l="l" t="t" r="r" b="b"/>
              <a:pathLst>
                <a:path w="1020572" h="1020572">
                  <a:moveTo>
                    <a:pt x="0" y="510286"/>
                  </a:moveTo>
                  <a:cubicBezTo>
                    <a:pt x="0" y="228473"/>
                    <a:pt x="228473" y="0"/>
                    <a:pt x="510286" y="0"/>
                  </a:cubicBezTo>
                  <a:cubicBezTo>
                    <a:pt x="792099" y="0"/>
                    <a:pt x="1020572" y="228473"/>
                    <a:pt x="1020572" y="510286"/>
                  </a:cubicBezTo>
                  <a:cubicBezTo>
                    <a:pt x="1020572" y="792099"/>
                    <a:pt x="792099" y="1020572"/>
                    <a:pt x="510286" y="1020572"/>
                  </a:cubicBezTo>
                  <a:cubicBezTo>
                    <a:pt x="228473" y="1020572"/>
                    <a:pt x="0" y="792099"/>
                    <a:pt x="0" y="510286"/>
                  </a:cubicBezTo>
                  <a:close/>
                </a:path>
              </a:pathLst>
            </a:custGeom>
            <a:solidFill>
              <a:srgbClr val="373B48"/>
            </a:solidFill>
          </p:spPr>
        </p:sp>
      </p:grpSp>
      <p:sp>
        <p:nvSpPr>
          <p:cNvPr id="32" name="Freeform 32" descr="preencoded.png"/>
          <p:cNvSpPr/>
          <p:nvPr/>
        </p:nvSpPr>
        <p:spPr>
          <a:xfrm>
            <a:off x="4851276" y="5950298"/>
            <a:ext cx="306140" cy="306140"/>
          </a:xfrm>
          <a:custGeom>
            <a:avLst/>
            <a:gdLst/>
            <a:ahLst/>
            <a:cxnLst/>
            <a:rect l="l" t="t" r="r" b="b"/>
            <a:pathLst>
              <a:path w="306140" h="306140">
                <a:moveTo>
                  <a:pt x="0" y="0"/>
                </a:moveTo>
                <a:lnTo>
                  <a:pt x="306140" y="0"/>
                </a:lnTo>
                <a:lnTo>
                  <a:pt x="306140" y="306140"/>
                </a:lnTo>
                <a:lnTo>
                  <a:pt x="0" y="30614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3" name="TextBox 33"/>
          <p:cNvSpPr txBox="1"/>
          <p:nvPr/>
        </p:nvSpPr>
        <p:spPr>
          <a:xfrm>
            <a:off x="1275904" y="6712595"/>
            <a:ext cx="4004965" cy="427136"/>
          </a:xfrm>
          <a:prstGeom prst="rect">
            <a:avLst/>
          </a:prstGeom>
        </p:spPr>
        <p:txBody>
          <a:bodyPr lIns="0" tIns="0" rIns="0" bIns="0" rtlCol="0" anchor="t">
            <a:spAutoFit/>
          </a:bodyPr>
          <a:lstStyle/>
          <a:p>
            <a:pPr algn="l">
              <a:lnSpc>
                <a:spcPts val="3124"/>
              </a:lnSpc>
            </a:pPr>
            <a:r>
              <a:rPr lang="en-US" sz="2499" b="1">
                <a:solidFill>
                  <a:srgbClr val="52586B"/>
                </a:solidFill>
                <a:latin typeface="Arimo Bold"/>
                <a:ea typeface="Arimo Bold"/>
                <a:cs typeface="Arimo Bold"/>
                <a:sym typeface="Arimo Bold"/>
              </a:rPr>
              <a:t>Random Forest Regressor</a:t>
            </a:r>
          </a:p>
        </p:txBody>
      </p:sp>
      <p:sp>
        <p:nvSpPr>
          <p:cNvPr id="34" name="TextBox 34"/>
          <p:cNvSpPr txBox="1"/>
          <p:nvPr/>
        </p:nvSpPr>
        <p:spPr>
          <a:xfrm>
            <a:off x="1275904" y="7216527"/>
            <a:ext cx="7456885" cy="484585"/>
          </a:xfrm>
          <a:prstGeom prst="rect">
            <a:avLst/>
          </a:prstGeom>
        </p:spPr>
        <p:txBody>
          <a:bodyPr lIns="0" tIns="0" rIns="0" bIns="0" rtlCol="0" anchor="t">
            <a:spAutoFit/>
          </a:bodyPr>
          <a:lstStyle/>
          <a:p>
            <a:pPr algn="l">
              <a:lnSpc>
                <a:spcPts val="3187"/>
              </a:lnSpc>
            </a:pPr>
            <a:r>
              <a:rPr lang="en-US" sz="2000">
                <a:solidFill>
                  <a:srgbClr val="52586B"/>
                </a:solidFill>
                <a:latin typeface="Arimo"/>
                <a:ea typeface="Arimo"/>
                <a:cs typeface="Arimo"/>
                <a:sym typeface="Arimo"/>
              </a:rPr>
              <a:t>An ensemble method for improved accuracy and stability.</a:t>
            </a:r>
          </a:p>
        </p:txBody>
      </p:sp>
      <p:grpSp>
        <p:nvGrpSpPr>
          <p:cNvPr id="35" name="Group 35"/>
          <p:cNvGrpSpPr/>
          <p:nvPr/>
        </p:nvGrpSpPr>
        <p:grpSpPr>
          <a:xfrm>
            <a:off x="9271546" y="6103292"/>
            <a:ext cx="8024217" cy="2289870"/>
            <a:chOff x="0" y="0"/>
            <a:chExt cx="10698957" cy="3053160"/>
          </a:xfrm>
        </p:grpSpPr>
        <p:sp>
          <p:nvSpPr>
            <p:cNvPr id="36" name="Freeform 36"/>
            <p:cNvSpPr/>
            <p:nvPr/>
          </p:nvSpPr>
          <p:spPr>
            <a:xfrm>
              <a:off x="0" y="0"/>
              <a:ext cx="10698988" cy="3053207"/>
            </a:xfrm>
            <a:custGeom>
              <a:avLst/>
              <a:gdLst/>
              <a:ahLst/>
              <a:cxnLst/>
              <a:rect l="l" t="t" r="r" b="b"/>
              <a:pathLst>
                <a:path w="10698988" h="3053207">
                  <a:moveTo>
                    <a:pt x="0" y="182880"/>
                  </a:moveTo>
                  <a:cubicBezTo>
                    <a:pt x="0" y="81915"/>
                    <a:pt x="81915" y="0"/>
                    <a:pt x="182880" y="0"/>
                  </a:cubicBezTo>
                  <a:lnTo>
                    <a:pt x="10516108" y="0"/>
                  </a:lnTo>
                  <a:cubicBezTo>
                    <a:pt x="10617073" y="0"/>
                    <a:pt x="10698988" y="81915"/>
                    <a:pt x="10698988" y="182880"/>
                  </a:cubicBezTo>
                  <a:lnTo>
                    <a:pt x="10698988" y="2870327"/>
                  </a:lnTo>
                  <a:cubicBezTo>
                    <a:pt x="10698988" y="2971292"/>
                    <a:pt x="10617073" y="3053207"/>
                    <a:pt x="10516108" y="3053207"/>
                  </a:cubicBezTo>
                  <a:lnTo>
                    <a:pt x="182880" y="3053207"/>
                  </a:lnTo>
                  <a:cubicBezTo>
                    <a:pt x="81915" y="3053207"/>
                    <a:pt x="0" y="2971292"/>
                    <a:pt x="0" y="2870327"/>
                  </a:cubicBezTo>
                  <a:close/>
                </a:path>
              </a:pathLst>
            </a:custGeom>
            <a:solidFill>
              <a:srgbClr val="FFFFFF">
                <a:alpha val="90196"/>
              </a:srgbClr>
            </a:solidFill>
          </p:spPr>
        </p:sp>
      </p:grpSp>
      <p:grpSp>
        <p:nvGrpSpPr>
          <p:cNvPr id="37" name="Group 37"/>
          <p:cNvGrpSpPr/>
          <p:nvPr/>
        </p:nvGrpSpPr>
        <p:grpSpPr>
          <a:xfrm>
            <a:off x="9271546" y="6074717"/>
            <a:ext cx="8024217" cy="114300"/>
            <a:chOff x="0" y="0"/>
            <a:chExt cx="10698957" cy="152400"/>
          </a:xfrm>
        </p:grpSpPr>
        <p:sp>
          <p:nvSpPr>
            <p:cNvPr id="38" name="Freeform 38"/>
            <p:cNvSpPr/>
            <p:nvPr/>
          </p:nvSpPr>
          <p:spPr>
            <a:xfrm>
              <a:off x="0" y="0"/>
              <a:ext cx="10698988" cy="152400"/>
            </a:xfrm>
            <a:custGeom>
              <a:avLst/>
              <a:gdLst/>
              <a:ahLst/>
              <a:cxnLst/>
              <a:rect l="l" t="t" r="r" b="b"/>
              <a:pathLst>
                <a:path w="10698988" h="152400">
                  <a:moveTo>
                    <a:pt x="0" y="76200"/>
                  </a:moveTo>
                  <a:cubicBezTo>
                    <a:pt x="0" y="34163"/>
                    <a:pt x="34163" y="0"/>
                    <a:pt x="76200" y="0"/>
                  </a:cubicBezTo>
                  <a:lnTo>
                    <a:pt x="10622788" y="0"/>
                  </a:lnTo>
                  <a:cubicBezTo>
                    <a:pt x="10664825" y="0"/>
                    <a:pt x="10698988" y="34163"/>
                    <a:pt x="10698988" y="76200"/>
                  </a:cubicBezTo>
                  <a:cubicBezTo>
                    <a:pt x="10698988" y="118237"/>
                    <a:pt x="10664825" y="152400"/>
                    <a:pt x="10622788" y="152400"/>
                  </a:cubicBezTo>
                  <a:lnTo>
                    <a:pt x="76200" y="152400"/>
                  </a:lnTo>
                  <a:cubicBezTo>
                    <a:pt x="34163" y="152400"/>
                    <a:pt x="0" y="118237"/>
                    <a:pt x="0" y="76200"/>
                  </a:cubicBezTo>
                  <a:close/>
                </a:path>
              </a:pathLst>
            </a:custGeom>
            <a:solidFill>
              <a:srgbClr val="373B48"/>
            </a:solidFill>
          </p:spPr>
        </p:sp>
      </p:grpSp>
      <p:grpSp>
        <p:nvGrpSpPr>
          <p:cNvPr id="39" name="Group 39"/>
          <p:cNvGrpSpPr/>
          <p:nvPr/>
        </p:nvGrpSpPr>
        <p:grpSpPr>
          <a:xfrm>
            <a:off x="12900942" y="5720655"/>
            <a:ext cx="765422" cy="765422"/>
            <a:chOff x="0" y="0"/>
            <a:chExt cx="1020563" cy="1020563"/>
          </a:xfrm>
        </p:grpSpPr>
        <p:sp>
          <p:nvSpPr>
            <p:cNvPr id="40" name="Freeform 40"/>
            <p:cNvSpPr/>
            <p:nvPr/>
          </p:nvSpPr>
          <p:spPr>
            <a:xfrm>
              <a:off x="0" y="0"/>
              <a:ext cx="1020572" cy="1020572"/>
            </a:xfrm>
            <a:custGeom>
              <a:avLst/>
              <a:gdLst/>
              <a:ahLst/>
              <a:cxnLst/>
              <a:rect l="l" t="t" r="r" b="b"/>
              <a:pathLst>
                <a:path w="1020572" h="1020572">
                  <a:moveTo>
                    <a:pt x="0" y="510286"/>
                  </a:moveTo>
                  <a:cubicBezTo>
                    <a:pt x="0" y="228473"/>
                    <a:pt x="228473" y="0"/>
                    <a:pt x="510286" y="0"/>
                  </a:cubicBezTo>
                  <a:cubicBezTo>
                    <a:pt x="792099" y="0"/>
                    <a:pt x="1020572" y="228473"/>
                    <a:pt x="1020572" y="510286"/>
                  </a:cubicBezTo>
                  <a:cubicBezTo>
                    <a:pt x="1020572" y="792099"/>
                    <a:pt x="792099" y="1020572"/>
                    <a:pt x="510286" y="1020572"/>
                  </a:cubicBezTo>
                  <a:cubicBezTo>
                    <a:pt x="228473" y="1020572"/>
                    <a:pt x="0" y="792099"/>
                    <a:pt x="0" y="510286"/>
                  </a:cubicBezTo>
                  <a:close/>
                </a:path>
              </a:pathLst>
            </a:custGeom>
            <a:solidFill>
              <a:srgbClr val="373B48"/>
            </a:solidFill>
          </p:spPr>
        </p:sp>
      </p:grpSp>
      <p:sp>
        <p:nvSpPr>
          <p:cNvPr id="41" name="Freeform 41" descr="preencoded.png"/>
          <p:cNvSpPr/>
          <p:nvPr/>
        </p:nvSpPr>
        <p:spPr>
          <a:xfrm>
            <a:off x="13130585" y="5950298"/>
            <a:ext cx="306140" cy="306140"/>
          </a:xfrm>
          <a:custGeom>
            <a:avLst/>
            <a:gdLst/>
            <a:ahLst/>
            <a:cxnLst/>
            <a:rect l="l" t="t" r="r" b="b"/>
            <a:pathLst>
              <a:path w="306140" h="306140">
                <a:moveTo>
                  <a:pt x="0" y="0"/>
                </a:moveTo>
                <a:lnTo>
                  <a:pt x="306140" y="0"/>
                </a:lnTo>
                <a:lnTo>
                  <a:pt x="306140" y="306140"/>
                </a:lnTo>
                <a:lnTo>
                  <a:pt x="0" y="306140"/>
                </a:lnTo>
                <a:lnTo>
                  <a:pt x="0" y="0"/>
                </a:lnTo>
                <a:close/>
              </a:path>
            </a:pathLst>
          </a:custGeom>
          <a:blipFill>
            <a:blip r:embed="rId10">
              <a:extLst>
                <a:ext uri="{96DAC541-7B7A-43D3-8B79-37D633B846F1}">
                  <asvg:svgBlip xmlns:asvg="http://schemas.microsoft.com/office/drawing/2016/SVG/main" r:embed="rId11"/>
                </a:ext>
              </a:extLst>
            </a:blip>
            <a:stretch>
              <a:fillRect t="-4545" b="-4545"/>
            </a:stretch>
          </a:blipFill>
        </p:spPr>
      </p:sp>
      <p:sp>
        <p:nvSpPr>
          <p:cNvPr id="42" name="TextBox 42"/>
          <p:cNvSpPr txBox="1"/>
          <p:nvPr/>
        </p:nvSpPr>
        <p:spPr>
          <a:xfrm>
            <a:off x="9555212" y="6712595"/>
            <a:ext cx="3189685" cy="427136"/>
          </a:xfrm>
          <a:prstGeom prst="rect">
            <a:avLst/>
          </a:prstGeom>
        </p:spPr>
        <p:txBody>
          <a:bodyPr lIns="0" tIns="0" rIns="0" bIns="0" rtlCol="0" anchor="t">
            <a:spAutoFit/>
          </a:bodyPr>
          <a:lstStyle/>
          <a:p>
            <a:pPr algn="l">
              <a:lnSpc>
                <a:spcPts val="3124"/>
              </a:lnSpc>
            </a:pPr>
            <a:r>
              <a:rPr lang="en-US" sz="2499" b="1">
                <a:solidFill>
                  <a:srgbClr val="52586B"/>
                </a:solidFill>
                <a:latin typeface="Arimo Bold"/>
                <a:ea typeface="Arimo Bold"/>
                <a:cs typeface="Arimo Bold"/>
                <a:sym typeface="Arimo Bold"/>
              </a:rPr>
              <a:t>Voting Regressor</a:t>
            </a:r>
          </a:p>
        </p:txBody>
      </p:sp>
      <p:sp>
        <p:nvSpPr>
          <p:cNvPr id="43" name="TextBox 43"/>
          <p:cNvSpPr txBox="1"/>
          <p:nvPr/>
        </p:nvSpPr>
        <p:spPr>
          <a:xfrm>
            <a:off x="9555212" y="7216527"/>
            <a:ext cx="7456885" cy="892969"/>
          </a:xfrm>
          <a:prstGeom prst="rect">
            <a:avLst/>
          </a:prstGeom>
        </p:spPr>
        <p:txBody>
          <a:bodyPr lIns="0" tIns="0" rIns="0" bIns="0" rtlCol="0" anchor="t">
            <a:spAutoFit/>
          </a:bodyPr>
          <a:lstStyle/>
          <a:p>
            <a:pPr algn="l">
              <a:lnSpc>
                <a:spcPts val="3187"/>
              </a:lnSpc>
            </a:pPr>
            <a:r>
              <a:rPr lang="en-US" sz="2000">
                <a:solidFill>
                  <a:srgbClr val="52586B"/>
                </a:solidFill>
                <a:latin typeface="Arimo"/>
                <a:ea typeface="Arimo"/>
                <a:cs typeface="Arimo"/>
                <a:sym typeface="Arimo"/>
              </a:rPr>
              <a:t>Combines predictions from multiple models for enhanced performance.</a:t>
            </a:r>
          </a:p>
        </p:txBody>
      </p:sp>
      <p:sp>
        <p:nvSpPr>
          <p:cNvPr id="44" name="TextBox 44"/>
          <p:cNvSpPr txBox="1"/>
          <p:nvPr/>
        </p:nvSpPr>
        <p:spPr>
          <a:xfrm>
            <a:off x="992237" y="8575327"/>
            <a:ext cx="16303526" cy="937260"/>
          </a:xfrm>
          <a:prstGeom prst="rect">
            <a:avLst/>
          </a:prstGeom>
        </p:spPr>
        <p:txBody>
          <a:bodyPr lIns="0" tIns="0" rIns="0" bIns="0" rtlCol="0" anchor="t">
            <a:spAutoFit/>
          </a:bodyPr>
          <a:lstStyle/>
          <a:p>
            <a:pPr algn="l">
              <a:lnSpc>
                <a:spcPts val="3824"/>
              </a:lnSpc>
            </a:pPr>
            <a:r>
              <a:rPr lang="en-US" sz="2399">
                <a:solidFill>
                  <a:srgbClr val="52586B"/>
                </a:solidFill>
                <a:latin typeface="Arimo"/>
                <a:ea typeface="Arimo"/>
                <a:cs typeface="Arimo"/>
                <a:sym typeface="Arimo"/>
              </a:rPr>
              <a:t>We assessed each model's performance using R² Score (coefficient of determination) and Mean Absolute Error (MAE), crucial metrics for understanding model accuracy and prediction deviation.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510629" y="4026482"/>
            <a:ext cx="8490496" cy="5917618"/>
            <a:chOff x="0" y="0"/>
            <a:chExt cx="11320662" cy="7890157"/>
          </a:xfrm>
        </p:grpSpPr>
        <p:sp>
          <p:nvSpPr>
            <p:cNvPr id="7" name="Freeform 7"/>
            <p:cNvSpPr/>
            <p:nvPr/>
          </p:nvSpPr>
          <p:spPr>
            <a:xfrm>
              <a:off x="6350" y="8287"/>
              <a:ext cx="11307953" cy="7873562"/>
            </a:xfrm>
            <a:custGeom>
              <a:avLst/>
              <a:gdLst/>
              <a:ahLst/>
              <a:cxnLst/>
              <a:rect l="l" t="t" r="r" b="b"/>
              <a:pathLst>
                <a:path w="11307953" h="7873562">
                  <a:moveTo>
                    <a:pt x="0" y="90002"/>
                  </a:moveTo>
                  <a:cubicBezTo>
                    <a:pt x="0" y="40277"/>
                    <a:pt x="30861" y="0"/>
                    <a:pt x="68961" y="0"/>
                  </a:cubicBezTo>
                  <a:lnTo>
                    <a:pt x="11238992" y="0"/>
                  </a:lnTo>
                  <a:cubicBezTo>
                    <a:pt x="11277092" y="0"/>
                    <a:pt x="11307953" y="40277"/>
                    <a:pt x="11307953" y="90002"/>
                  </a:cubicBezTo>
                  <a:lnTo>
                    <a:pt x="11307953" y="7783561"/>
                  </a:lnTo>
                  <a:cubicBezTo>
                    <a:pt x="11307953" y="7833286"/>
                    <a:pt x="11277092" y="7873562"/>
                    <a:pt x="11238992" y="7873562"/>
                  </a:cubicBezTo>
                  <a:lnTo>
                    <a:pt x="68961" y="7873562"/>
                  </a:lnTo>
                  <a:cubicBezTo>
                    <a:pt x="30861" y="7873562"/>
                    <a:pt x="0" y="7833286"/>
                    <a:pt x="0" y="7783561"/>
                  </a:cubicBezTo>
                  <a:close/>
                </a:path>
              </a:pathLst>
            </a:custGeom>
            <a:solidFill>
              <a:srgbClr val="E2E4E9"/>
            </a:solidFill>
          </p:spPr>
        </p:sp>
        <p:sp>
          <p:nvSpPr>
            <p:cNvPr id="8" name="Freeform 8"/>
            <p:cNvSpPr/>
            <p:nvPr/>
          </p:nvSpPr>
          <p:spPr>
            <a:xfrm>
              <a:off x="0" y="0"/>
              <a:ext cx="11320653" cy="7890136"/>
            </a:xfrm>
            <a:custGeom>
              <a:avLst/>
              <a:gdLst/>
              <a:ahLst/>
              <a:cxnLst/>
              <a:rect l="l" t="t" r="r" b="b"/>
              <a:pathLst>
                <a:path w="11320653" h="7890136">
                  <a:moveTo>
                    <a:pt x="0" y="98289"/>
                  </a:moveTo>
                  <a:cubicBezTo>
                    <a:pt x="0" y="43923"/>
                    <a:pt x="33782" y="0"/>
                    <a:pt x="75311" y="0"/>
                  </a:cubicBezTo>
                  <a:lnTo>
                    <a:pt x="11245342" y="0"/>
                  </a:lnTo>
                  <a:lnTo>
                    <a:pt x="11245342" y="8287"/>
                  </a:lnTo>
                  <a:lnTo>
                    <a:pt x="11245342" y="0"/>
                  </a:lnTo>
                  <a:cubicBezTo>
                    <a:pt x="11286999" y="0"/>
                    <a:pt x="11320653" y="43923"/>
                    <a:pt x="11320653" y="98289"/>
                  </a:cubicBezTo>
                  <a:lnTo>
                    <a:pt x="11314303" y="98289"/>
                  </a:lnTo>
                  <a:lnTo>
                    <a:pt x="11320653" y="98289"/>
                  </a:lnTo>
                  <a:lnTo>
                    <a:pt x="11320653" y="7791848"/>
                  </a:lnTo>
                  <a:lnTo>
                    <a:pt x="11314303" y="7791848"/>
                  </a:lnTo>
                  <a:lnTo>
                    <a:pt x="11320653" y="7791848"/>
                  </a:lnTo>
                  <a:cubicBezTo>
                    <a:pt x="11320653" y="7846213"/>
                    <a:pt x="11286872" y="7890136"/>
                    <a:pt x="11245342" y="7890136"/>
                  </a:cubicBezTo>
                  <a:lnTo>
                    <a:pt x="11245342" y="7881849"/>
                  </a:lnTo>
                  <a:lnTo>
                    <a:pt x="11245342" y="7890136"/>
                  </a:lnTo>
                  <a:lnTo>
                    <a:pt x="75311" y="7890136"/>
                  </a:lnTo>
                  <a:lnTo>
                    <a:pt x="75311" y="7881849"/>
                  </a:lnTo>
                  <a:lnTo>
                    <a:pt x="75311" y="7890136"/>
                  </a:lnTo>
                  <a:cubicBezTo>
                    <a:pt x="33655" y="7890136"/>
                    <a:pt x="0" y="7846213"/>
                    <a:pt x="0" y="7791848"/>
                  </a:cubicBezTo>
                  <a:lnTo>
                    <a:pt x="0" y="98289"/>
                  </a:lnTo>
                  <a:lnTo>
                    <a:pt x="6350" y="98289"/>
                  </a:lnTo>
                  <a:lnTo>
                    <a:pt x="0" y="98289"/>
                  </a:lnTo>
                  <a:moveTo>
                    <a:pt x="12700" y="98289"/>
                  </a:moveTo>
                  <a:lnTo>
                    <a:pt x="12700" y="7791848"/>
                  </a:lnTo>
                  <a:lnTo>
                    <a:pt x="6350" y="7791848"/>
                  </a:lnTo>
                  <a:lnTo>
                    <a:pt x="12700" y="7791848"/>
                  </a:lnTo>
                  <a:cubicBezTo>
                    <a:pt x="12700" y="7836931"/>
                    <a:pt x="40767" y="7873561"/>
                    <a:pt x="75311" y="7873561"/>
                  </a:cubicBezTo>
                  <a:lnTo>
                    <a:pt x="11245342" y="7873561"/>
                  </a:lnTo>
                  <a:cubicBezTo>
                    <a:pt x="11280013" y="7873561"/>
                    <a:pt x="11307953" y="7836931"/>
                    <a:pt x="11307953" y="7791848"/>
                  </a:cubicBezTo>
                  <a:lnTo>
                    <a:pt x="11307953" y="98289"/>
                  </a:lnTo>
                  <a:cubicBezTo>
                    <a:pt x="11307953" y="53205"/>
                    <a:pt x="11279886" y="16575"/>
                    <a:pt x="11245342" y="16575"/>
                  </a:cubicBezTo>
                  <a:lnTo>
                    <a:pt x="75311" y="16575"/>
                  </a:lnTo>
                  <a:lnTo>
                    <a:pt x="75311" y="8287"/>
                  </a:lnTo>
                  <a:lnTo>
                    <a:pt x="75311" y="16575"/>
                  </a:lnTo>
                  <a:cubicBezTo>
                    <a:pt x="40767" y="16575"/>
                    <a:pt x="12700" y="53205"/>
                    <a:pt x="12700" y="98289"/>
                  </a:cubicBezTo>
                  <a:close/>
                </a:path>
              </a:pathLst>
            </a:custGeom>
            <a:solidFill>
              <a:srgbClr val="C8CACF"/>
            </a:solidFill>
          </p:spPr>
        </p:sp>
      </p:grpSp>
      <p:grpSp>
        <p:nvGrpSpPr>
          <p:cNvPr id="9" name="Group 9"/>
          <p:cNvGrpSpPr/>
          <p:nvPr/>
        </p:nvGrpSpPr>
        <p:grpSpPr>
          <a:xfrm>
            <a:off x="9134474" y="4026482"/>
            <a:ext cx="8795049" cy="5917618"/>
            <a:chOff x="0" y="0"/>
            <a:chExt cx="11726732" cy="7890157"/>
          </a:xfrm>
        </p:grpSpPr>
        <p:sp>
          <p:nvSpPr>
            <p:cNvPr id="10" name="Freeform 10"/>
            <p:cNvSpPr/>
            <p:nvPr/>
          </p:nvSpPr>
          <p:spPr>
            <a:xfrm>
              <a:off x="6578" y="8287"/>
              <a:ext cx="11713568" cy="7873562"/>
            </a:xfrm>
            <a:custGeom>
              <a:avLst/>
              <a:gdLst/>
              <a:ahLst/>
              <a:cxnLst/>
              <a:rect l="l" t="t" r="r" b="b"/>
              <a:pathLst>
                <a:path w="11713568" h="7873562">
                  <a:moveTo>
                    <a:pt x="0" y="0"/>
                  </a:moveTo>
                  <a:lnTo>
                    <a:pt x="11713568" y="0"/>
                  </a:lnTo>
                  <a:lnTo>
                    <a:pt x="11713568" y="7873562"/>
                  </a:lnTo>
                  <a:lnTo>
                    <a:pt x="0" y="7873562"/>
                  </a:lnTo>
                  <a:close/>
                </a:path>
              </a:pathLst>
            </a:custGeom>
            <a:solidFill>
              <a:srgbClr val="E2E4E9"/>
            </a:solidFill>
          </p:spPr>
        </p:sp>
        <p:sp>
          <p:nvSpPr>
            <p:cNvPr id="11" name="Freeform 11"/>
            <p:cNvSpPr/>
            <p:nvPr/>
          </p:nvSpPr>
          <p:spPr>
            <a:xfrm>
              <a:off x="0" y="0"/>
              <a:ext cx="11726724" cy="7890136"/>
            </a:xfrm>
            <a:custGeom>
              <a:avLst/>
              <a:gdLst/>
              <a:ahLst/>
              <a:cxnLst/>
              <a:rect l="l" t="t" r="r" b="b"/>
              <a:pathLst>
                <a:path w="11726724" h="7890136">
                  <a:moveTo>
                    <a:pt x="6578" y="0"/>
                  </a:moveTo>
                  <a:lnTo>
                    <a:pt x="11720146" y="0"/>
                  </a:lnTo>
                  <a:cubicBezTo>
                    <a:pt x="11723829" y="0"/>
                    <a:pt x="11726724" y="3646"/>
                    <a:pt x="11726724" y="8287"/>
                  </a:cubicBezTo>
                  <a:lnTo>
                    <a:pt x="11726724" y="7881849"/>
                  </a:lnTo>
                  <a:cubicBezTo>
                    <a:pt x="11726724" y="7886490"/>
                    <a:pt x="11723829" y="7890136"/>
                    <a:pt x="11720146" y="7890136"/>
                  </a:cubicBezTo>
                  <a:lnTo>
                    <a:pt x="6578" y="7890136"/>
                  </a:lnTo>
                  <a:cubicBezTo>
                    <a:pt x="2894" y="7890136"/>
                    <a:pt x="0" y="7886490"/>
                    <a:pt x="0" y="7881849"/>
                  </a:cubicBezTo>
                  <a:lnTo>
                    <a:pt x="0" y="8287"/>
                  </a:lnTo>
                  <a:cubicBezTo>
                    <a:pt x="0" y="3646"/>
                    <a:pt x="2894" y="0"/>
                    <a:pt x="6578" y="0"/>
                  </a:cubicBezTo>
                  <a:moveTo>
                    <a:pt x="6578" y="16575"/>
                  </a:moveTo>
                  <a:lnTo>
                    <a:pt x="6578" y="8287"/>
                  </a:lnTo>
                  <a:lnTo>
                    <a:pt x="13156" y="8287"/>
                  </a:lnTo>
                  <a:lnTo>
                    <a:pt x="13156" y="7881849"/>
                  </a:lnTo>
                  <a:lnTo>
                    <a:pt x="6578" y="7881849"/>
                  </a:lnTo>
                  <a:lnTo>
                    <a:pt x="6578" y="7873561"/>
                  </a:lnTo>
                  <a:lnTo>
                    <a:pt x="11720146" y="7873561"/>
                  </a:lnTo>
                  <a:lnTo>
                    <a:pt x="11720146" y="7881849"/>
                  </a:lnTo>
                  <a:lnTo>
                    <a:pt x="11713568" y="7881849"/>
                  </a:lnTo>
                  <a:lnTo>
                    <a:pt x="11713568" y="8287"/>
                  </a:lnTo>
                  <a:lnTo>
                    <a:pt x="11720146" y="8287"/>
                  </a:lnTo>
                  <a:lnTo>
                    <a:pt x="11720146" y="16575"/>
                  </a:lnTo>
                  <a:lnTo>
                    <a:pt x="6578" y="16575"/>
                  </a:lnTo>
                  <a:close/>
                </a:path>
              </a:pathLst>
            </a:custGeom>
            <a:solidFill>
              <a:srgbClr val="C8CACF"/>
            </a:solidFill>
          </p:spPr>
        </p:sp>
      </p:grpSp>
      <p:grpSp>
        <p:nvGrpSpPr>
          <p:cNvPr id="12" name="Group 12"/>
          <p:cNvGrpSpPr/>
          <p:nvPr/>
        </p:nvGrpSpPr>
        <p:grpSpPr>
          <a:xfrm>
            <a:off x="9210302" y="5872383"/>
            <a:ext cx="8414668" cy="3588516"/>
            <a:chOff x="0" y="0"/>
            <a:chExt cx="2260210" cy="963888"/>
          </a:xfrm>
        </p:grpSpPr>
        <p:sp>
          <p:nvSpPr>
            <p:cNvPr id="13" name="Freeform 13"/>
            <p:cNvSpPr/>
            <p:nvPr/>
          </p:nvSpPr>
          <p:spPr>
            <a:xfrm>
              <a:off x="0" y="0"/>
              <a:ext cx="2260210" cy="963888"/>
            </a:xfrm>
            <a:custGeom>
              <a:avLst/>
              <a:gdLst/>
              <a:ahLst/>
              <a:cxnLst/>
              <a:rect l="l" t="t" r="r" b="b"/>
              <a:pathLst>
                <a:path w="2260210" h="963888">
                  <a:moveTo>
                    <a:pt x="0" y="0"/>
                  </a:moveTo>
                  <a:lnTo>
                    <a:pt x="2260210" y="0"/>
                  </a:lnTo>
                  <a:lnTo>
                    <a:pt x="2260210" y="963888"/>
                  </a:lnTo>
                  <a:lnTo>
                    <a:pt x="0" y="963888"/>
                  </a:lnTo>
                  <a:close/>
                </a:path>
              </a:pathLst>
            </a:custGeom>
            <a:blipFill>
              <a:blip r:embed="rId4"/>
              <a:stretch>
                <a:fillRect l="-1206" t="-2797" r="-12911" b="-3267"/>
              </a:stretch>
            </a:blipFill>
          </p:spPr>
        </p:sp>
      </p:grpSp>
      <p:grpSp>
        <p:nvGrpSpPr>
          <p:cNvPr id="14" name="Group 14"/>
          <p:cNvGrpSpPr/>
          <p:nvPr/>
        </p:nvGrpSpPr>
        <p:grpSpPr>
          <a:xfrm>
            <a:off x="1028700" y="5644219"/>
            <a:ext cx="7023726" cy="4114800"/>
            <a:chOff x="0" y="0"/>
            <a:chExt cx="1088159" cy="637490"/>
          </a:xfrm>
        </p:grpSpPr>
        <p:sp>
          <p:nvSpPr>
            <p:cNvPr id="15" name="Freeform 15"/>
            <p:cNvSpPr/>
            <p:nvPr/>
          </p:nvSpPr>
          <p:spPr>
            <a:xfrm>
              <a:off x="0" y="0"/>
              <a:ext cx="1088159" cy="637490"/>
            </a:xfrm>
            <a:custGeom>
              <a:avLst/>
              <a:gdLst/>
              <a:ahLst/>
              <a:cxnLst/>
              <a:rect l="l" t="t" r="r" b="b"/>
              <a:pathLst>
                <a:path w="1088159" h="637490">
                  <a:moveTo>
                    <a:pt x="0" y="0"/>
                  </a:moveTo>
                  <a:lnTo>
                    <a:pt x="1088159" y="0"/>
                  </a:lnTo>
                  <a:lnTo>
                    <a:pt x="1088159" y="637490"/>
                  </a:lnTo>
                  <a:lnTo>
                    <a:pt x="0" y="637490"/>
                  </a:lnTo>
                  <a:close/>
                </a:path>
              </a:pathLst>
            </a:custGeom>
            <a:blipFill>
              <a:blip r:embed="rId5"/>
              <a:stretch>
                <a:fillRect t="-432" b="-432"/>
              </a:stretch>
            </a:blipFill>
          </p:spPr>
        </p:sp>
      </p:grpSp>
      <p:sp>
        <p:nvSpPr>
          <p:cNvPr id="16" name="TextBox 16"/>
          <p:cNvSpPr txBox="1"/>
          <p:nvPr/>
        </p:nvSpPr>
        <p:spPr>
          <a:xfrm>
            <a:off x="729332" y="1567525"/>
            <a:ext cx="16961941" cy="1428874"/>
          </a:xfrm>
          <a:prstGeom prst="rect">
            <a:avLst/>
          </a:prstGeom>
        </p:spPr>
        <p:txBody>
          <a:bodyPr lIns="0" tIns="0" rIns="0" bIns="0" rtlCol="0" anchor="t">
            <a:spAutoFit/>
          </a:bodyPr>
          <a:lstStyle/>
          <a:p>
            <a:pPr algn="l">
              <a:lnSpc>
                <a:spcPts val="3899"/>
              </a:lnSpc>
            </a:pPr>
            <a:r>
              <a:rPr lang="en-US" sz="2437">
                <a:solidFill>
                  <a:srgbClr val="52586B"/>
                </a:solidFill>
                <a:latin typeface="Arimo"/>
                <a:ea typeface="Arimo"/>
                <a:cs typeface="Arimo"/>
                <a:sym typeface="Arimo"/>
              </a:rPr>
              <a:t>After rigorous evaluation, the Random Forest Regressor demonstrated superior performance across key metrics. However, for its interpretability and robust deployment capabilities, the Linear Regression model was selected for final deployment and saved for real-world application.</a:t>
            </a:r>
          </a:p>
        </p:txBody>
      </p:sp>
      <p:sp>
        <p:nvSpPr>
          <p:cNvPr id="17" name="TextBox 17"/>
          <p:cNvSpPr txBox="1"/>
          <p:nvPr/>
        </p:nvSpPr>
        <p:spPr>
          <a:xfrm>
            <a:off x="719435" y="669587"/>
            <a:ext cx="8072884" cy="680126"/>
          </a:xfrm>
          <a:prstGeom prst="rect">
            <a:avLst/>
          </a:prstGeom>
        </p:spPr>
        <p:txBody>
          <a:bodyPr lIns="0" tIns="0" rIns="0" bIns="0" rtlCol="0" anchor="t">
            <a:spAutoFit/>
          </a:bodyPr>
          <a:lstStyle/>
          <a:p>
            <a:pPr algn="l">
              <a:lnSpc>
                <a:spcPts val="5399"/>
              </a:lnSpc>
            </a:pPr>
            <a:r>
              <a:rPr lang="en-US" sz="4274" b="1">
                <a:solidFill>
                  <a:srgbClr val="373B48"/>
                </a:solidFill>
                <a:latin typeface="Arimo Bold"/>
                <a:ea typeface="Arimo Bold"/>
                <a:cs typeface="Arimo Bold"/>
                <a:sym typeface="Arimo Bold"/>
              </a:rPr>
              <a:t>Model Comparison &amp; Results</a:t>
            </a:r>
          </a:p>
        </p:txBody>
      </p:sp>
      <p:sp>
        <p:nvSpPr>
          <p:cNvPr id="18" name="TextBox 18"/>
          <p:cNvSpPr txBox="1"/>
          <p:nvPr/>
        </p:nvSpPr>
        <p:spPr>
          <a:xfrm>
            <a:off x="2233388" y="3329774"/>
            <a:ext cx="3840395" cy="553834"/>
          </a:xfrm>
          <a:prstGeom prst="rect">
            <a:avLst/>
          </a:prstGeom>
        </p:spPr>
        <p:txBody>
          <a:bodyPr lIns="0" tIns="0" rIns="0" bIns="0" rtlCol="0" anchor="t">
            <a:spAutoFit/>
          </a:bodyPr>
          <a:lstStyle/>
          <a:p>
            <a:pPr algn="r">
              <a:lnSpc>
                <a:spcPts val="4278"/>
              </a:lnSpc>
            </a:pPr>
            <a:r>
              <a:rPr lang="en-US" sz="3387" b="1">
                <a:solidFill>
                  <a:srgbClr val="52586B"/>
                </a:solidFill>
                <a:latin typeface="Arimo Bold"/>
                <a:ea typeface="Arimo Bold"/>
                <a:cs typeface="Arimo Bold"/>
                <a:sym typeface="Arimo Bold"/>
              </a:rPr>
              <a:t>Random Forest</a:t>
            </a:r>
          </a:p>
        </p:txBody>
      </p:sp>
      <p:sp>
        <p:nvSpPr>
          <p:cNvPr id="19" name="TextBox 19"/>
          <p:cNvSpPr txBox="1"/>
          <p:nvPr/>
        </p:nvSpPr>
        <p:spPr>
          <a:xfrm>
            <a:off x="1028700" y="4342088"/>
            <a:ext cx="7616178" cy="801412"/>
          </a:xfrm>
          <a:prstGeom prst="rect">
            <a:avLst/>
          </a:prstGeom>
        </p:spPr>
        <p:txBody>
          <a:bodyPr lIns="0" tIns="0" rIns="0" bIns="0" rtlCol="0" anchor="t">
            <a:spAutoFit/>
          </a:bodyPr>
          <a:lstStyle/>
          <a:p>
            <a:pPr algn="just">
              <a:lnSpc>
                <a:spcPts val="3259"/>
              </a:lnSpc>
            </a:pPr>
            <a:r>
              <a:rPr lang="en-US" sz="2037">
                <a:solidFill>
                  <a:srgbClr val="52586B"/>
                </a:solidFill>
                <a:latin typeface="Arimo"/>
                <a:ea typeface="Arimo"/>
                <a:cs typeface="Arimo"/>
                <a:sym typeface="Arimo"/>
              </a:rPr>
              <a:t>Achieved the </a:t>
            </a:r>
            <a:r>
              <a:rPr lang="en-US" sz="2037" b="1">
                <a:solidFill>
                  <a:srgbClr val="52586B"/>
                </a:solidFill>
                <a:latin typeface="Arimo Bold"/>
                <a:ea typeface="Arimo Bold"/>
                <a:cs typeface="Arimo Bold"/>
                <a:sym typeface="Arimo Bold"/>
              </a:rPr>
              <a:t>highest R² score</a:t>
            </a:r>
            <a:r>
              <a:rPr lang="en-US" sz="2037">
                <a:solidFill>
                  <a:srgbClr val="52586B"/>
                </a:solidFill>
                <a:latin typeface="Arimo"/>
                <a:ea typeface="Arimo"/>
                <a:cs typeface="Arimo"/>
                <a:sym typeface="Arimo"/>
              </a:rPr>
              <a:t> and </a:t>
            </a:r>
            <a:r>
              <a:rPr lang="en-US" sz="2037" b="1">
                <a:solidFill>
                  <a:srgbClr val="52586B"/>
                </a:solidFill>
                <a:latin typeface="Arimo Bold"/>
                <a:ea typeface="Arimo Bold"/>
                <a:cs typeface="Arimo Bold"/>
                <a:sym typeface="Arimo Bold"/>
              </a:rPr>
              <a:t>lowest MAE</a:t>
            </a:r>
            <a:r>
              <a:rPr lang="en-US" sz="2037">
                <a:solidFill>
                  <a:srgbClr val="52586B"/>
                </a:solidFill>
                <a:latin typeface="Arimo"/>
                <a:ea typeface="Arimo"/>
                <a:cs typeface="Arimo"/>
                <a:sym typeface="Arimo"/>
              </a:rPr>
              <a:t>, indicating its strong predictive power.</a:t>
            </a:r>
          </a:p>
        </p:txBody>
      </p:sp>
      <p:sp>
        <p:nvSpPr>
          <p:cNvPr id="20" name="TextBox 20"/>
          <p:cNvSpPr txBox="1"/>
          <p:nvPr/>
        </p:nvSpPr>
        <p:spPr>
          <a:xfrm>
            <a:off x="11641436" y="3329774"/>
            <a:ext cx="4390231" cy="552383"/>
          </a:xfrm>
          <a:prstGeom prst="rect">
            <a:avLst/>
          </a:prstGeom>
        </p:spPr>
        <p:txBody>
          <a:bodyPr lIns="0" tIns="0" rIns="0" bIns="0" rtlCol="0" anchor="t">
            <a:spAutoFit/>
          </a:bodyPr>
          <a:lstStyle/>
          <a:p>
            <a:pPr algn="l">
              <a:lnSpc>
                <a:spcPts val="4350"/>
              </a:lnSpc>
            </a:pPr>
            <a:r>
              <a:rPr lang="en-US" sz="3443" b="1">
                <a:solidFill>
                  <a:srgbClr val="52586B"/>
                </a:solidFill>
                <a:latin typeface="Arimo Bold"/>
                <a:ea typeface="Arimo Bold"/>
                <a:cs typeface="Arimo Bold"/>
                <a:sym typeface="Arimo Bold"/>
              </a:rPr>
              <a:t>Linear Regression</a:t>
            </a:r>
          </a:p>
        </p:txBody>
      </p:sp>
      <p:sp>
        <p:nvSpPr>
          <p:cNvPr id="21" name="TextBox 21"/>
          <p:cNvSpPr txBox="1"/>
          <p:nvPr/>
        </p:nvSpPr>
        <p:spPr>
          <a:xfrm>
            <a:off x="9727984" y="4342088"/>
            <a:ext cx="7379303" cy="801412"/>
          </a:xfrm>
          <a:prstGeom prst="rect">
            <a:avLst/>
          </a:prstGeom>
        </p:spPr>
        <p:txBody>
          <a:bodyPr lIns="0" tIns="0" rIns="0" bIns="0" rtlCol="0" anchor="t">
            <a:spAutoFit/>
          </a:bodyPr>
          <a:lstStyle/>
          <a:p>
            <a:pPr marL="0" lvl="0" indent="0" algn="just">
              <a:lnSpc>
                <a:spcPts val="3259"/>
              </a:lnSpc>
              <a:spcBef>
                <a:spcPct val="0"/>
              </a:spcBef>
            </a:pPr>
            <a:r>
              <a:rPr lang="en-US" sz="2037" b="1" u="none" strike="noStrike">
                <a:solidFill>
                  <a:srgbClr val="52586B"/>
                </a:solidFill>
                <a:latin typeface="Arimo Bold"/>
                <a:ea typeface="Arimo Bold"/>
                <a:cs typeface="Arimo Bold"/>
                <a:sym typeface="Arimo Bold"/>
              </a:rPr>
              <a:t>Chosen for its clarity and ease of interpretation, the model was saved as salary_prediction.pkl for future use.</a:t>
            </a:r>
          </a:p>
        </p:txBody>
      </p:sp>
      <p:sp>
        <p:nvSpPr>
          <p:cNvPr id="22" name="TextBox 22"/>
          <p:cNvSpPr txBox="1"/>
          <p:nvPr/>
        </p:nvSpPr>
        <p:spPr>
          <a:xfrm>
            <a:off x="663029" y="10864602"/>
            <a:ext cx="16961941" cy="254199"/>
          </a:xfrm>
          <a:prstGeom prst="rect">
            <a:avLst/>
          </a:prstGeom>
        </p:spPr>
        <p:txBody>
          <a:bodyPr lIns="0" tIns="0" rIns="0" bIns="0" rtlCol="0" anchor="t">
            <a:spAutoFit/>
          </a:bodyPr>
          <a:lstStyle/>
          <a:p>
            <a:pPr algn="l">
              <a:lnSpc>
                <a:spcPts val="1500"/>
              </a:lnSpc>
            </a:pPr>
            <a:r>
              <a:rPr lang="en-US" sz="937">
                <a:solidFill>
                  <a:srgbClr val="52586B"/>
                </a:solidFill>
                <a:latin typeface="Arimo"/>
                <a:ea typeface="Arimo"/>
                <a:cs typeface="Arimo"/>
                <a:sym typeface="Arimo"/>
              </a:rPr>
              <a:t>The saved model is capable of taking user inputs to predict salaries, offering a practical solution for various applications.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86320" y="60721"/>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1295400" y="662018"/>
            <a:ext cx="8349108" cy="656528"/>
          </a:xfrm>
          <a:prstGeom prst="rect">
            <a:avLst/>
          </a:prstGeom>
        </p:spPr>
        <p:txBody>
          <a:bodyPr lIns="0" tIns="0" rIns="0" bIns="0" rtlCol="0" anchor="t">
            <a:spAutoFit/>
          </a:bodyPr>
          <a:lstStyle/>
          <a:p>
            <a:pPr algn="l">
              <a:lnSpc>
                <a:spcPts val="5000"/>
              </a:lnSpc>
            </a:pPr>
            <a:r>
              <a:rPr lang="en-US" sz="3975" b="1" dirty="0">
                <a:solidFill>
                  <a:srgbClr val="373B48"/>
                </a:solidFill>
                <a:latin typeface="Arimo Bold"/>
                <a:ea typeface="Arimo Bold"/>
                <a:cs typeface="Arimo Bold"/>
                <a:sym typeface="Arimo Bold"/>
              </a:rPr>
              <a:t>Applications &amp; Future Scope</a:t>
            </a:r>
          </a:p>
        </p:txBody>
      </p:sp>
      <p:sp>
        <p:nvSpPr>
          <p:cNvPr id="7" name="TextBox 7"/>
          <p:cNvSpPr txBox="1"/>
          <p:nvPr/>
        </p:nvSpPr>
        <p:spPr>
          <a:xfrm>
            <a:off x="1211469" y="1399615"/>
            <a:ext cx="16531389" cy="971035"/>
          </a:xfrm>
          <a:prstGeom prst="rect">
            <a:avLst/>
          </a:prstGeom>
        </p:spPr>
        <p:txBody>
          <a:bodyPr wrap="square" lIns="0" tIns="0" rIns="0" bIns="0" rtlCol="0" anchor="t">
            <a:spAutoFit/>
          </a:bodyPr>
          <a:lstStyle/>
          <a:p>
            <a:pPr algn="l">
              <a:lnSpc>
                <a:spcPts val="4020"/>
              </a:lnSpc>
            </a:pPr>
            <a:r>
              <a:rPr lang="en-US" sz="2400" dirty="0">
                <a:solidFill>
                  <a:srgbClr val="52586B"/>
                </a:solidFill>
                <a:latin typeface="Arimo"/>
                <a:ea typeface="Arimo"/>
                <a:cs typeface="Arimo"/>
                <a:sym typeface="Arimo"/>
              </a:rPr>
              <a:t>Our salary prediction model offers diverse applications and a clear path for future enhancements, addressing current challenges and expanding its utility.</a:t>
            </a:r>
          </a:p>
        </p:txBody>
      </p:sp>
      <p:sp>
        <p:nvSpPr>
          <p:cNvPr id="8" name="TextBox 8"/>
          <p:cNvSpPr txBox="1"/>
          <p:nvPr/>
        </p:nvSpPr>
        <p:spPr>
          <a:xfrm>
            <a:off x="1431281" y="2703315"/>
            <a:ext cx="3089922" cy="446538"/>
          </a:xfrm>
          <a:prstGeom prst="rect">
            <a:avLst/>
          </a:prstGeom>
        </p:spPr>
        <p:txBody>
          <a:bodyPr lIns="0" tIns="0" rIns="0" bIns="0" rtlCol="0" anchor="t">
            <a:spAutoFit/>
          </a:bodyPr>
          <a:lstStyle/>
          <a:p>
            <a:pPr algn="l">
              <a:lnSpc>
                <a:spcPts val="3443"/>
              </a:lnSpc>
            </a:pPr>
            <a:r>
              <a:rPr lang="en-US" sz="2737" b="1">
                <a:solidFill>
                  <a:srgbClr val="373B48"/>
                </a:solidFill>
                <a:latin typeface="Arimo Bold"/>
                <a:ea typeface="Arimo Bold"/>
                <a:cs typeface="Arimo Bold"/>
                <a:sym typeface="Arimo Bold"/>
              </a:rPr>
              <a:t>Key Applications</a:t>
            </a:r>
          </a:p>
        </p:txBody>
      </p:sp>
      <p:sp>
        <p:nvSpPr>
          <p:cNvPr id="9" name="Freeform 9" descr="preencoded.png"/>
          <p:cNvSpPr/>
          <p:nvPr/>
        </p:nvSpPr>
        <p:spPr>
          <a:xfrm>
            <a:off x="966193" y="3454654"/>
            <a:ext cx="498575" cy="498575"/>
          </a:xfrm>
          <a:custGeom>
            <a:avLst/>
            <a:gdLst/>
            <a:ahLst/>
            <a:cxnLst/>
            <a:rect l="l" t="t" r="r" b="b"/>
            <a:pathLst>
              <a:path w="498575" h="498575">
                <a:moveTo>
                  <a:pt x="0" y="0"/>
                </a:moveTo>
                <a:lnTo>
                  <a:pt x="498575" y="0"/>
                </a:lnTo>
                <a:lnTo>
                  <a:pt x="498575" y="498575"/>
                </a:lnTo>
                <a:lnTo>
                  <a:pt x="0" y="498575"/>
                </a:lnTo>
                <a:lnTo>
                  <a:pt x="0" y="0"/>
                </a:lnTo>
                <a:close/>
              </a:path>
            </a:pathLst>
          </a:custGeom>
          <a:blipFill>
            <a:blip r:embed="rId4">
              <a:extLst>
                <a:ext uri="{96DAC541-7B7A-43D3-8B79-37D633B846F1}">
                  <asvg:svgBlip xmlns:asvg="http://schemas.microsoft.com/office/drawing/2016/SVG/main" r:embed="rId5"/>
                </a:ext>
              </a:extLst>
            </a:blip>
            <a:stretch>
              <a:fillRect l="-7812" r="-7812"/>
            </a:stretch>
          </a:blipFill>
        </p:spPr>
      </p:sp>
      <p:sp>
        <p:nvSpPr>
          <p:cNvPr id="10" name="TextBox 10"/>
          <p:cNvSpPr txBox="1"/>
          <p:nvPr/>
        </p:nvSpPr>
        <p:spPr>
          <a:xfrm>
            <a:off x="1640086" y="3474021"/>
            <a:ext cx="4410968" cy="447061"/>
          </a:xfrm>
          <a:prstGeom prst="rect">
            <a:avLst/>
          </a:prstGeom>
        </p:spPr>
        <p:txBody>
          <a:bodyPr lIns="0" tIns="0" rIns="0" bIns="0" rtlCol="0" anchor="t">
            <a:spAutoFit/>
          </a:bodyPr>
          <a:lstStyle/>
          <a:p>
            <a:pPr algn="l">
              <a:lnSpc>
                <a:spcPts val="3619"/>
              </a:lnSpc>
            </a:pPr>
            <a:r>
              <a:rPr lang="en-US" sz="2262">
                <a:solidFill>
                  <a:srgbClr val="52586B"/>
                </a:solidFill>
                <a:latin typeface="Arimo"/>
                <a:ea typeface="Arimo"/>
                <a:cs typeface="Arimo"/>
                <a:sym typeface="Arimo"/>
              </a:rPr>
              <a:t>HR salary planning</a:t>
            </a:r>
          </a:p>
        </p:txBody>
      </p:sp>
      <p:sp>
        <p:nvSpPr>
          <p:cNvPr id="11" name="Freeform 11" descr="preencoded.png"/>
          <p:cNvSpPr/>
          <p:nvPr/>
        </p:nvSpPr>
        <p:spPr>
          <a:xfrm>
            <a:off x="992238" y="4611067"/>
            <a:ext cx="498575" cy="498575"/>
          </a:xfrm>
          <a:custGeom>
            <a:avLst/>
            <a:gdLst/>
            <a:ahLst/>
            <a:cxnLst/>
            <a:rect l="l" t="t" r="r" b="b"/>
            <a:pathLst>
              <a:path w="498575" h="498575">
                <a:moveTo>
                  <a:pt x="0" y="0"/>
                </a:moveTo>
                <a:lnTo>
                  <a:pt x="498575" y="0"/>
                </a:lnTo>
                <a:lnTo>
                  <a:pt x="498575" y="498575"/>
                </a:lnTo>
                <a:lnTo>
                  <a:pt x="0" y="498575"/>
                </a:lnTo>
                <a:lnTo>
                  <a:pt x="0" y="0"/>
                </a:lnTo>
                <a:close/>
              </a:path>
            </a:pathLst>
          </a:custGeom>
          <a:blipFill>
            <a:blip r:embed="rId4">
              <a:extLst>
                <a:ext uri="{96DAC541-7B7A-43D3-8B79-37D633B846F1}">
                  <asvg:svgBlip xmlns:asvg="http://schemas.microsoft.com/office/drawing/2016/SVG/main" r:embed="rId5"/>
                </a:ext>
              </a:extLst>
            </a:blip>
            <a:stretch>
              <a:fillRect l="-7812" r="-7812"/>
            </a:stretch>
          </a:blipFill>
          <a:ln cap="sq">
            <a:noFill/>
            <a:prstDash val="solid"/>
            <a:miter/>
          </a:ln>
        </p:spPr>
      </p:sp>
      <p:sp>
        <p:nvSpPr>
          <p:cNvPr id="12" name="TextBox 12"/>
          <p:cNvSpPr txBox="1"/>
          <p:nvPr/>
        </p:nvSpPr>
        <p:spPr>
          <a:xfrm>
            <a:off x="1637109" y="4618295"/>
            <a:ext cx="4410968" cy="447061"/>
          </a:xfrm>
          <a:prstGeom prst="rect">
            <a:avLst/>
          </a:prstGeom>
        </p:spPr>
        <p:txBody>
          <a:bodyPr lIns="0" tIns="0" rIns="0" bIns="0" rtlCol="0" anchor="t">
            <a:spAutoFit/>
          </a:bodyPr>
          <a:lstStyle/>
          <a:p>
            <a:pPr marL="0" lvl="0" indent="0" algn="l">
              <a:lnSpc>
                <a:spcPts val="3619"/>
              </a:lnSpc>
              <a:spcBef>
                <a:spcPct val="0"/>
              </a:spcBef>
            </a:pPr>
            <a:r>
              <a:rPr lang="en-US" sz="2262" u="none" strike="noStrike">
                <a:solidFill>
                  <a:srgbClr val="52586B"/>
                </a:solidFill>
                <a:latin typeface="Arimo"/>
                <a:ea typeface="Arimo"/>
                <a:cs typeface="Arimo"/>
                <a:sym typeface="Arimo"/>
              </a:rPr>
              <a:t>Hiring &amp; talent management</a:t>
            </a:r>
          </a:p>
        </p:txBody>
      </p:sp>
      <p:sp>
        <p:nvSpPr>
          <p:cNvPr id="13" name="Freeform 13" descr="preencoded.png"/>
          <p:cNvSpPr/>
          <p:nvPr/>
        </p:nvSpPr>
        <p:spPr>
          <a:xfrm>
            <a:off x="1059211" y="5766867"/>
            <a:ext cx="431601" cy="431601"/>
          </a:xfrm>
          <a:custGeom>
            <a:avLst/>
            <a:gdLst/>
            <a:ahLst/>
            <a:cxnLst/>
            <a:rect l="l" t="t" r="r" b="b"/>
            <a:pathLst>
              <a:path w="431601" h="431601">
                <a:moveTo>
                  <a:pt x="0" y="0"/>
                </a:moveTo>
                <a:lnTo>
                  <a:pt x="431602" y="0"/>
                </a:lnTo>
                <a:lnTo>
                  <a:pt x="431602" y="431601"/>
                </a:lnTo>
                <a:lnTo>
                  <a:pt x="0" y="431601"/>
                </a:lnTo>
                <a:lnTo>
                  <a:pt x="0" y="0"/>
                </a:lnTo>
                <a:close/>
              </a:path>
            </a:pathLst>
          </a:custGeom>
          <a:blipFill>
            <a:blip r:embed="rId4">
              <a:extLst>
                <a:ext uri="{96DAC541-7B7A-43D3-8B79-37D633B846F1}">
                  <asvg:svgBlip xmlns:asvg="http://schemas.microsoft.com/office/drawing/2016/SVG/main" r:embed="rId5"/>
                </a:ext>
              </a:extLst>
            </a:blip>
            <a:stretch>
              <a:fillRect l="-7812" r="-7812"/>
            </a:stretch>
          </a:blipFill>
        </p:spPr>
      </p:sp>
      <p:sp>
        <p:nvSpPr>
          <p:cNvPr id="14" name="TextBox 14"/>
          <p:cNvSpPr txBox="1"/>
          <p:nvPr/>
        </p:nvSpPr>
        <p:spPr>
          <a:xfrm>
            <a:off x="1640086" y="5744171"/>
            <a:ext cx="4410968" cy="447061"/>
          </a:xfrm>
          <a:prstGeom prst="rect">
            <a:avLst/>
          </a:prstGeom>
        </p:spPr>
        <p:txBody>
          <a:bodyPr lIns="0" tIns="0" rIns="0" bIns="0" rtlCol="0" anchor="t">
            <a:spAutoFit/>
          </a:bodyPr>
          <a:lstStyle/>
          <a:p>
            <a:pPr marL="0" lvl="0" indent="0" algn="l">
              <a:lnSpc>
                <a:spcPts val="3619"/>
              </a:lnSpc>
              <a:spcBef>
                <a:spcPct val="0"/>
              </a:spcBef>
            </a:pPr>
            <a:r>
              <a:rPr lang="en-US" sz="2262" u="none" strike="noStrike">
                <a:solidFill>
                  <a:srgbClr val="52586B"/>
                </a:solidFill>
                <a:latin typeface="Arimo"/>
                <a:ea typeface="Arimo"/>
                <a:cs typeface="Arimo"/>
                <a:sym typeface="Arimo"/>
              </a:rPr>
              <a:t>Industry salary insights</a:t>
            </a:r>
          </a:p>
        </p:txBody>
      </p:sp>
      <p:sp>
        <p:nvSpPr>
          <p:cNvPr id="15" name="Freeform 15" descr="preencoded.png"/>
          <p:cNvSpPr/>
          <p:nvPr/>
        </p:nvSpPr>
        <p:spPr>
          <a:xfrm>
            <a:off x="1059211" y="6838505"/>
            <a:ext cx="431601" cy="431601"/>
          </a:xfrm>
          <a:custGeom>
            <a:avLst/>
            <a:gdLst/>
            <a:ahLst/>
            <a:cxnLst/>
            <a:rect l="l" t="t" r="r" b="b"/>
            <a:pathLst>
              <a:path w="431601" h="431601">
                <a:moveTo>
                  <a:pt x="0" y="0"/>
                </a:moveTo>
                <a:lnTo>
                  <a:pt x="431602" y="0"/>
                </a:lnTo>
                <a:lnTo>
                  <a:pt x="431602" y="431601"/>
                </a:lnTo>
                <a:lnTo>
                  <a:pt x="0" y="431601"/>
                </a:lnTo>
                <a:lnTo>
                  <a:pt x="0" y="0"/>
                </a:lnTo>
                <a:close/>
              </a:path>
            </a:pathLst>
          </a:custGeom>
          <a:blipFill>
            <a:blip r:embed="rId4">
              <a:extLst>
                <a:ext uri="{96DAC541-7B7A-43D3-8B79-37D633B846F1}">
                  <asvg:svgBlip xmlns:asvg="http://schemas.microsoft.com/office/drawing/2016/SVG/main" r:embed="rId5"/>
                </a:ext>
              </a:extLst>
            </a:blip>
            <a:stretch>
              <a:fillRect l="-7812" r="-7812"/>
            </a:stretch>
          </a:blipFill>
        </p:spPr>
      </p:sp>
      <p:sp>
        <p:nvSpPr>
          <p:cNvPr id="16" name="TextBox 16"/>
          <p:cNvSpPr txBox="1"/>
          <p:nvPr/>
        </p:nvSpPr>
        <p:spPr>
          <a:xfrm>
            <a:off x="1637109" y="6778388"/>
            <a:ext cx="4410968" cy="447061"/>
          </a:xfrm>
          <a:prstGeom prst="rect">
            <a:avLst/>
          </a:prstGeom>
        </p:spPr>
        <p:txBody>
          <a:bodyPr lIns="0" tIns="0" rIns="0" bIns="0" rtlCol="0" anchor="t">
            <a:spAutoFit/>
          </a:bodyPr>
          <a:lstStyle/>
          <a:p>
            <a:pPr marL="0" lvl="0" indent="0" algn="l">
              <a:lnSpc>
                <a:spcPts val="3619"/>
              </a:lnSpc>
              <a:spcBef>
                <a:spcPct val="0"/>
              </a:spcBef>
            </a:pPr>
            <a:r>
              <a:rPr lang="en-US" sz="2262" u="none" strike="noStrike">
                <a:solidFill>
                  <a:srgbClr val="52586B"/>
                </a:solidFill>
                <a:latin typeface="Arimo"/>
                <a:ea typeface="Arimo"/>
                <a:cs typeface="Arimo"/>
                <a:sym typeface="Arimo"/>
              </a:rPr>
              <a:t>Budget forecasting</a:t>
            </a:r>
          </a:p>
        </p:txBody>
      </p:sp>
      <p:sp>
        <p:nvSpPr>
          <p:cNvPr id="17" name="TextBox 17"/>
          <p:cNvSpPr txBox="1"/>
          <p:nvPr/>
        </p:nvSpPr>
        <p:spPr>
          <a:xfrm>
            <a:off x="6643166" y="2703314"/>
            <a:ext cx="4852690" cy="446540"/>
          </a:xfrm>
          <a:prstGeom prst="rect">
            <a:avLst/>
          </a:prstGeom>
        </p:spPr>
        <p:txBody>
          <a:bodyPr lIns="0" tIns="0" rIns="0" bIns="0" rtlCol="0" anchor="t">
            <a:spAutoFit/>
          </a:bodyPr>
          <a:lstStyle/>
          <a:p>
            <a:pPr marL="0" lvl="0" indent="0" algn="l">
              <a:lnSpc>
                <a:spcPts val="3443"/>
              </a:lnSpc>
              <a:spcBef>
                <a:spcPct val="0"/>
              </a:spcBef>
            </a:pPr>
            <a:r>
              <a:rPr lang="en-US" sz="2737" b="1" u="none" strike="noStrike">
                <a:solidFill>
                  <a:srgbClr val="373B48"/>
                </a:solidFill>
                <a:latin typeface="Arimo Bold"/>
                <a:ea typeface="Arimo Bold"/>
                <a:cs typeface="Arimo Bold"/>
                <a:sym typeface="Arimo Bold"/>
              </a:rPr>
              <a:t>Challenges &amp; Solutions</a:t>
            </a:r>
          </a:p>
        </p:txBody>
      </p:sp>
      <p:grpSp>
        <p:nvGrpSpPr>
          <p:cNvPr id="18" name="Group 18"/>
          <p:cNvGrpSpPr/>
          <p:nvPr/>
        </p:nvGrpSpPr>
        <p:grpSpPr>
          <a:xfrm>
            <a:off x="6536829" y="3269902"/>
            <a:ext cx="5065365" cy="4014490"/>
            <a:chOff x="0" y="0"/>
            <a:chExt cx="6753820" cy="5352653"/>
          </a:xfrm>
        </p:grpSpPr>
        <p:sp>
          <p:nvSpPr>
            <p:cNvPr id="19" name="Freeform 19"/>
            <p:cNvSpPr/>
            <p:nvPr/>
          </p:nvSpPr>
          <p:spPr>
            <a:xfrm>
              <a:off x="6350" y="6350"/>
              <a:ext cx="6741033" cy="5339969"/>
            </a:xfrm>
            <a:custGeom>
              <a:avLst/>
              <a:gdLst/>
              <a:ahLst/>
              <a:cxnLst/>
              <a:rect l="l" t="t" r="r" b="b"/>
              <a:pathLst>
                <a:path w="6741033" h="5339969">
                  <a:moveTo>
                    <a:pt x="0" y="111125"/>
                  </a:moveTo>
                  <a:cubicBezTo>
                    <a:pt x="0" y="49784"/>
                    <a:pt x="49784" y="0"/>
                    <a:pt x="111125" y="0"/>
                  </a:cubicBezTo>
                  <a:lnTo>
                    <a:pt x="6629908" y="0"/>
                  </a:lnTo>
                  <a:cubicBezTo>
                    <a:pt x="6691249" y="0"/>
                    <a:pt x="6741033" y="49784"/>
                    <a:pt x="6741033" y="111125"/>
                  </a:cubicBezTo>
                  <a:lnTo>
                    <a:pt x="6741033" y="5228844"/>
                  </a:lnTo>
                  <a:cubicBezTo>
                    <a:pt x="6741033" y="5290185"/>
                    <a:pt x="6691249" y="5339969"/>
                    <a:pt x="6629908" y="5339969"/>
                  </a:cubicBezTo>
                  <a:lnTo>
                    <a:pt x="111125" y="5339969"/>
                  </a:lnTo>
                  <a:cubicBezTo>
                    <a:pt x="49784" y="5339969"/>
                    <a:pt x="0" y="5290185"/>
                    <a:pt x="0" y="5228844"/>
                  </a:cubicBezTo>
                  <a:close/>
                </a:path>
              </a:pathLst>
            </a:custGeom>
            <a:solidFill>
              <a:srgbClr val="E2E4E9"/>
            </a:solidFill>
          </p:spPr>
        </p:sp>
        <p:sp>
          <p:nvSpPr>
            <p:cNvPr id="20" name="Freeform 20"/>
            <p:cNvSpPr/>
            <p:nvPr/>
          </p:nvSpPr>
          <p:spPr>
            <a:xfrm>
              <a:off x="0" y="0"/>
              <a:ext cx="6753733" cy="5352669"/>
            </a:xfrm>
            <a:custGeom>
              <a:avLst/>
              <a:gdLst/>
              <a:ahLst/>
              <a:cxnLst/>
              <a:rect l="l" t="t" r="r" b="b"/>
              <a:pathLst>
                <a:path w="6753733" h="5352669">
                  <a:moveTo>
                    <a:pt x="0" y="117475"/>
                  </a:moveTo>
                  <a:cubicBezTo>
                    <a:pt x="0" y="52578"/>
                    <a:pt x="52578" y="0"/>
                    <a:pt x="117475" y="0"/>
                  </a:cubicBezTo>
                  <a:lnTo>
                    <a:pt x="6636258" y="0"/>
                  </a:lnTo>
                  <a:lnTo>
                    <a:pt x="6636258" y="6350"/>
                  </a:lnTo>
                  <a:lnTo>
                    <a:pt x="6636258" y="0"/>
                  </a:lnTo>
                  <a:cubicBezTo>
                    <a:pt x="6701155" y="0"/>
                    <a:pt x="6753733" y="52578"/>
                    <a:pt x="6753733" y="117475"/>
                  </a:cubicBezTo>
                  <a:lnTo>
                    <a:pt x="6747383" y="117475"/>
                  </a:lnTo>
                  <a:lnTo>
                    <a:pt x="6753733" y="117475"/>
                  </a:lnTo>
                  <a:lnTo>
                    <a:pt x="6753733" y="5235194"/>
                  </a:lnTo>
                  <a:lnTo>
                    <a:pt x="6747383" y="5235194"/>
                  </a:lnTo>
                  <a:lnTo>
                    <a:pt x="6753733" y="5235194"/>
                  </a:lnTo>
                  <a:cubicBezTo>
                    <a:pt x="6753733" y="5300091"/>
                    <a:pt x="6701155" y="5352669"/>
                    <a:pt x="6636258" y="5352669"/>
                  </a:cubicBezTo>
                  <a:lnTo>
                    <a:pt x="6636258" y="5346319"/>
                  </a:lnTo>
                  <a:lnTo>
                    <a:pt x="6636258" y="5352669"/>
                  </a:lnTo>
                  <a:lnTo>
                    <a:pt x="117475" y="5352669"/>
                  </a:lnTo>
                  <a:lnTo>
                    <a:pt x="117475" y="5346319"/>
                  </a:lnTo>
                  <a:lnTo>
                    <a:pt x="117475" y="5352669"/>
                  </a:lnTo>
                  <a:cubicBezTo>
                    <a:pt x="52578" y="5352669"/>
                    <a:pt x="0" y="5300091"/>
                    <a:pt x="0" y="5235194"/>
                  </a:cubicBezTo>
                  <a:lnTo>
                    <a:pt x="0" y="117475"/>
                  </a:lnTo>
                  <a:lnTo>
                    <a:pt x="6350" y="117475"/>
                  </a:lnTo>
                  <a:lnTo>
                    <a:pt x="0" y="117475"/>
                  </a:lnTo>
                  <a:moveTo>
                    <a:pt x="12700" y="117475"/>
                  </a:moveTo>
                  <a:lnTo>
                    <a:pt x="12700" y="5235194"/>
                  </a:lnTo>
                  <a:lnTo>
                    <a:pt x="6350" y="5235194"/>
                  </a:lnTo>
                  <a:lnTo>
                    <a:pt x="12700" y="5235194"/>
                  </a:lnTo>
                  <a:cubicBezTo>
                    <a:pt x="12700" y="5293106"/>
                    <a:pt x="59690" y="5339969"/>
                    <a:pt x="117475" y="5339969"/>
                  </a:cubicBezTo>
                  <a:lnTo>
                    <a:pt x="6636258" y="5339969"/>
                  </a:lnTo>
                  <a:cubicBezTo>
                    <a:pt x="6694170" y="5339969"/>
                    <a:pt x="6741033" y="5293106"/>
                    <a:pt x="6741033" y="5235194"/>
                  </a:cubicBezTo>
                  <a:lnTo>
                    <a:pt x="6741033" y="117475"/>
                  </a:lnTo>
                  <a:cubicBezTo>
                    <a:pt x="6741033" y="59563"/>
                    <a:pt x="6694043" y="12700"/>
                    <a:pt x="6636258" y="12700"/>
                  </a:cubicBezTo>
                  <a:lnTo>
                    <a:pt x="117475" y="12700"/>
                  </a:lnTo>
                  <a:lnTo>
                    <a:pt x="117475" y="6350"/>
                  </a:lnTo>
                  <a:lnTo>
                    <a:pt x="117475" y="12700"/>
                  </a:lnTo>
                  <a:cubicBezTo>
                    <a:pt x="59690" y="12700"/>
                    <a:pt x="12700" y="59563"/>
                    <a:pt x="12700" y="117475"/>
                  </a:cubicBezTo>
                  <a:close/>
                </a:path>
              </a:pathLst>
            </a:custGeom>
            <a:solidFill>
              <a:srgbClr val="C8CACF"/>
            </a:solidFill>
          </p:spPr>
        </p:sp>
      </p:grpSp>
      <p:grpSp>
        <p:nvGrpSpPr>
          <p:cNvPr id="21" name="Group 21"/>
          <p:cNvGrpSpPr/>
          <p:nvPr/>
        </p:nvGrpSpPr>
        <p:grpSpPr>
          <a:xfrm>
            <a:off x="6551116" y="3284190"/>
            <a:ext cx="5036790" cy="1222772"/>
            <a:chOff x="0" y="0"/>
            <a:chExt cx="6715720" cy="1630363"/>
          </a:xfrm>
        </p:grpSpPr>
        <p:sp>
          <p:nvSpPr>
            <p:cNvPr id="22" name="Freeform 22"/>
            <p:cNvSpPr/>
            <p:nvPr/>
          </p:nvSpPr>
          <p:spPr>
            <a:xfrm>
              <a:off x="0" y="0"/>
              <a:ext cx="6715760" cy="1630299"/>
            </a:xfrm>
            <a:custGeom>
              <a:avLst/>
              <a:gdLst/>
              <a:ahLst/>
              <a:cxnLst/>
              <a:rect l="l" t="t" r="r" b="b"/>
              <a:pathLst>
                <a:path w="6715760" h="1630299">
                  <a:moveTo>
                    <a:pt x="0" y="111125"/>
                  </a:moveTo>
                  <a:cubicBezTo>
                    <a:pt x="0" y="49784"/>
                    <a:pt x="49784" y="0"/>
                    <a:pt x="111125" y="0"/>
                  </a:cubicBezTo>
                  <a:lnTo>
                    <a:pt x="6604635" y="0"/>
                  </a:lnTo>
                  <a:cubicBezTo>
                    <a:pt x="6665976" y="0"/>
                    <a:pt x="6715760" y="49784"/>
                    <a:pt x="6715760" y="111125"/>
                  </a:cubicBezTo>
                  <a:lnTo>
                    <a:pt x="6715760" y="1519174"/>
                  </a:lnTo>
                  <a:cubicBezTo>
                    <a:pt x="6715760" y="1580515"/>
                    <a:pt x="6665976" y="1630299"/>
                    <a:pt x="6604635" y="1630299"/>
                  </a:cubicBezTo>
                  <a:lnTo>
                    <a:pt x="111125" y="1630299"/>
                  </a:lnTo>
                  <a:cubicBezTo>
                    <a:pt x="49784" y="1630299"/>
                    <a:pt x="0" y="1580515"/>
                    <a:pt x="0" y="1519174"/>
                  </a:cubicBezTo>
                  <a:close/>
                </a:path>
              </a:pathLst>
            </a:custGeom>
            <a:solidFill>
              <a:srgbClr val="E2E4E9"/>
            </a:solidFill>
          </p:spPr>
        </p:sp>
      </p:grpSp>
      <p:sp>
        <p:nvSpPr>
          <p:cNvPr id="23" name="TextBox 23"/>
          <p:cNvSpPr txBox="1"/>
          <p:nvPr/>
        </p:nvSpPr>
        <p:spPr>
          <a:xfrm>
            <a:off x="6749504" y="3454002"/>
            <a:ext cx="2591841" cy="338584"/>
          </a:xfrm>
          <a:prstGeom prst="rect">
            <a:avLst/>
          </a:prstGeom>
        </p:spPr>
        <p:txBody>
          <a:bodyPr lIns="0" tIns="0" rIns="0" bIns="0" rtlCol="0" anchor="t">
            <a:spAutoFit/>
          </a:bodyPr>
          <a:lstStyle/>
          <a:p>
            <a:pPr algn="l">
              <a:lnSpc>
                <a:spcPts val="2437"/>
              </a:lnSpc>
            </a:pPr>
            <a:r>
              <a:rPr lang="en-US" sz="1937" b="1">
                <a:solidFill>
                  <a:srgbClr val="52586B"/>
                </a:solidFill>
                <a:latin typeface="Arimo Bold"/>
                <a:ea typeface="Arimo Bold"/>
                <a:cs typeface="Arimo Bold"/>
                <a:sym typeface="Arimo Bold"/>
              </a:rPr>
              <a:t>Categorical Encoding</a:t>
            </a:r>
          </a:p>
        </p:txBody>
      </p:sp>
      <p:sp>
        <p:nvSpPr>
          <p:cNvPr id="24" name="TextBox 24"/>
          <p:cNvSpPr txBox="1"/>
          <p:nvPr/>
        </p:nvSpPr>
        <p:spPr>
          <a:xfrm>
            <a:off x="6749504" y="3924300"/>
            <a:ext cx="4640015" cy="384274"/>
          </a:xfrm>
          <a:prstGeom prst="rect">
            <a:avLst/>
          </a:prstGeom>
        </p:spPr>
        <p:txBody>
          <a:bodyPr lIns="0" tIns="0" rIns="0" bIns="0" rtlCol="0" anchor="t">
            <a:spAutoFit/>
          </a:bodyPr>
          <a:lstStyle/>
          <a:p>
            <a:pPr algn="l">
              <a:lnSpc>
                <a:spcPts val="2499"/>
              </a:lnSpc>
            </a:pPr>
            <a:r>
              <a:rPr lang="en-US" sz="1562">
                <a:solidFill>
                  <a:srgbClr val="52586B"/>
                </a:solidFill>
                <a:latin typeface="Arimo"/>
                <a:ea typeface="Arimo"/>
                <a:cs typeface="Arimo"/>
                <a:sym typeface="Arimo"/>
              </a:rPr>
              <a:t>Resolved using LabelEncoder.</a:t>
            </a:r>
          </a:p>
        </p:txBody>
      </p:sp>
      <p:grpSp>
        <p:nvGrpSpPr>
          <p:cNvPr id="25" name="Group 25"/>
          <p:cNvGrpSpPr/>
          <p:nvPr/>
        </p:nvGrpSpPr>
        <p:grpSpPr>
          <a:xfrm>
            <a:off x="6551116" y="4506962"/>
            <a:ext cx="5036790" cy="1540371"/>
            <a:chOff x="0" y="0"/>
            <a:chExt cx="6715720" cy="2053828"/>
          </a:xfrm>
        </p:grpSpPr>
        <p:sp>
          <p:nvSpPr>
            <p:cNvPr id="26" name="Freeform 26"/>
            <p:cNvSpPr/>
            <p:nvPr/>
          </p:nvSpPr>
          <p:spPr>
            <a:xfrm>
              <a:off x="0" y="0"/>
              <a:ext cx="6715760" cy="2053844"/>
            </a:xfrm>
            <a:custGeom>
              <a:avLst/>
              <a:gdLst/>
              <a:ahLst/>
              <a:cxnLst/>
              <a:rect l="l" t="t" r="r" b="b"/>
              <a:pathLst>
                <a:path w="6715760" h="2053844">
                  <a:moveTo>
                    <a:pt x="0" y="0"/>
                  </a:moveTo>
                  <a:lnTo>
                    <a:pt x="6715760" y="0"/>
                  </a:lnTo>
                  <a:lnTo>
                    <a:pt x="6715760" y="2053844"/>
                  </a:lnTo>
                  <a:lnTo>
                    <a:pt x="0" y="2053844"/>
                  </a:lnTo>
                  <a:close/>
                </a:path>
              </a:pathLst>
            </a:custGeom>
            <a:solidFill>
              <a:srgbClr val="E2E4E9"/>
            </a:solidFill>
          </p:spPr>
        </p:sp>
      </p:grpSp>
      <p:grpSp>
        <p:nvGrpSpPr>
          <p:cNvPr id="27" name="Group 27"/>
          <p:cNvGrpSpPr/>
          <p:nvPr/>
        </p:nvGrpSpPr>
        <p:grpSpPr>
          <a:xfrm>
            <a:off x="6551116" y="4506962"/>
            <a:ext cx="5036790" cy="28575"/>
            <a:chOff x="0" y="0"/>
            <a:chExt cx="6715720" cy="38100"/>
          </a:xfrm>
        </p:grpSpPr>
        <p:sp>
          <p:nvSpPr>
            <p:cNvPr id="28" name="Freeform 28"/>
            <p:cNvSpPr/>
            <p:nvPr/>
          </p:nvSpPr>
          <p:spPr>
            <a:xfrm>
              <a:off x="0" y="0"/>
              <a:ext cx="6715760" cy="38100"/>
            </a:xfrm>
            <a:custGeom>
              <a:avLst/>
              <a:gdLst/>
              <a:ahLst/>
              <a:cxnLst/>
              <a:rect l="l" t="t" r="r" b="b"/>
              <a:pathLst>
                <a:path w="6715760" h="38100">
                  <a:moveTo>
                    <a:pt x="0" y="19050"/>
                  </a:moveTo>
                  <a:cubicBezTo>
                    <a:pt x="0" y="8509"/>
                    <a:pt x="8509" y="0"/>
                    <a:pt x="19050" y="0"/>
                  </a:cubicBezTo>
                  <a:lnTo>
                    <a:pt x="6696710" y="0"/>
                  </a:lnTo>
                  <a:cubicBezTo>
                    <a:pt x="6707251" y="0"/>
                    <a:pt x="6715760" y="8509"/>
                    <a:pt x="6715760" y="19050"/>
                  </a:cubicBezTo>
                  <a:cubicBezTo>
                    <a:pt x="6715760" y="29591"/>
                    <a:pt x="6707251" y="38100"/>
                    <a:pt x="6696710" y="38100"/>
                  </a:cubicBezTo>
                  <a:lnTo>
                    <a:pt x="19050" y="38100"/>
                  </a:lnTo>
                  <a:cubicBezTo>
                    <a:pt x="8509" y="38100"/>
                    <a:pt x="0" y="29591"/>
                    <a:pt x="0" y="19050"/>
                  </a:cubicBezTo>
                  <a:close/>
                </a:path>
              </a:pathLst>
            </a:custGeom>
            <a:solidFill>
              <a:srgbClr val="C8CACF"/>
            </a:solidFill>
          </p:spPr>
        </p:sp>
      </p:grpSp>
      <p:sp>
        <p:nvSpPr>
          <p:cNvPr id="29" name="TextBox 29"/>
          <p:cNvSpPr txBox="1"/>
          <p:nvPr/>
        </p:nvSpPr>
        <p:spPr>
          <a:xfrm>
            <a:off x="6749504" y="4676775"/>
            <a:ext cx="2480816" cy="338584"/>
          </a:xfrm>
          <a:prstGeom prst="rect">
            <a:avLst/>
          </a:prstGeom>
        </p:spPr>
        <p:txBody>
          <a:bodyPr lIns="0" tIns="0" rIns="0" bIns="0" rtlCol="0" anchor="t">
            <a:spAutoFit/>
          </a:bodyPr>
          <a:lstStyle/>
          <a:p>
            <a:pPr algn="l">
              <a:lnSpc>
                <a:spcPts val="2437"/>
              </a:lnSpc>
            </a:pPr>
            <a:r>
              <a:rPr lang="en-US" sz="1937" b="1">
                <a:solidFill>
                  <a:srgbClr val="52586B"/>
                </a:solidFill>
                <a:latin typeface="Arimo Bold"/>
                <a:ea typeface="Arimo Bold"/>
                <a:cs typeface="Arimo Bold"/>
                <a:sym typeface="Arimo Bold"/>
              </a:rPr>
              <a:t>Model Selection</a:t>
            </a:r>
          </a:p>
        </p:txBody>
      </p:sp>
      <p:sp>
        <p:nvSpPr>
          <p:cNvPr id="30" name="TextBox 30"/>
          <p:cNvSpPr txBox="1"/>
          <p:nvPr/>
        </p:nvSpPr>
        <p:spPr>
          <a:xfrm>
            <a:off x="6749504" y="5147073"/>
            <a:ext cx="4640015" cy="701874"/>
          </a:xfrm>
          <a:prstGeom prst="rect">
            <a:avLst/>
          </a:prstGeom>
        </p:spPr>
        <p:txBody>
          <a:bodyPr lIns="0" tIns="0" rIns="0" bIns="0" rtlCol="0" anchor="t">
            <a:spAutoFit/>
          </a:bodyPr>
          <a:lstStyle/>
          <a:p>
            <a:pPr algn="l">
              <a:lnSpc>
                <a:spcPts val="2499"/>
              </a:lnSpc>
            </a:pPr>
            <a:r>
              <a:rPr lang="en-US" sz="1562">
                <a:solidFill>
                  <a:srgbClr val="52586B"/>
                </a:solidFill>
                <a:latin typeface="Arimo"/>
                <a:ea typeface="Arimo"/>
                <a:cs typeface="Arimo"/>
                <a:sym typeface="Arimo"/>
              </a:rPr>
              <a:t>Addressed through comprehensive performance comparison.</a:t>
            </a:r>
          </a:p>
        </p:txBody>
      </p:sp>
      <p:grpSp>
        <p:nvGrpSpPr>
          <p:cNvPr id="31" name="Group 31"/>
          <p:cNvGrpSpPr/>
          <p:nvPr/>
        </p:nvGrpSpPr>
        <p:grpSpPr>
          <a:xfrm>
            <a:off x="6551116" y="6047334"/>
            <a:ext cx="5036790" cy="1222772"/>
            <a:chOff x="0" y="0"/>
            <a:chExt cx="6715720" cy="1630363"/>
          </a:xfrm>
        </p:grpSpPr>
        <p:sp>
          <p:nvSpPr>
            <p:cNvPr id="32" name="Freeform 32"/>
            <p:cNvSpPr/>
            <p:nvPr/>
          </p:nvSpPr>
          <p:spPr>
            <a:xfrm>
              <a:off x="0" y="0"/>
              <a:ext cx="6715760" cy="1630426"/>
            </a:xfrm>
            <a:custGeom>
              <a:avLst/>
              <a:gdLst/>
              <a:ahLst/>
              <a:cxnLst/>
              <a:rect l="l" t="t" r="r" b="b"/>
              <a:pathLst>
                <a:path w="6715760" h="1630426">
                  <a:moveTo>
                    <a:pt x="0" y="0"/>
                  </a:moveTo>
                  <a:lnTo>
                    <a:pt x="6715760" y="0"/>
                  </a:lnTo>
                  <a:lnTo>
                    <a:pt x="6715760" y="1630426"/>
                  </a:lnTo>
                  <a:lnTo>
                    <a:pt x="0" y="1630426"/>
                  </a:lnTo>
                  <a:close/>
                </a:path>
              </a:pathLst>
            </a:custGeom>
            <a:solidFill>
              <a:srgbClr val="E2E4E9"/>
            </a:solidFill>
          </p:spPr>
        </p:sp>
      </p:grpSp>
      <p:grpSp>
        <p:nvGrpSpPr>
          <p:cNvPr id="33" name="Group 33"/>
          <p:cNvGrpSpPr/>
          <p:nvPr/>
        </p:nvGrpSpPr>
        <p:grpSpPr>
          <a:xfrm>
            <a:off x="6551116" y="6047334"/>
            <a:ext cx="5036790" cy="28575"/>
            <a:chOff x="0" y="0"/>
            <a:chExt cx="6715720" cy="38100"/>
          </a:xfrm>
        </p:grpSpPr>
        <p:sp>
          <p:nvSpPr>
            <p:cNvPr id="34" name="Freeform 34"/>
            <p:cNvSpPr/>
            <p:nvPr/>
          </p:nvSpPr>
          <p:spPr>
            <a:xfrm>
              <a:off x="0" y="0"/>
              <a:ext cx="6715760" cy="38100"/>
            </a:xfrm>
            <a:custGeom>
              <a:avLst/>
              <a:gdLst/>
              <a:ahLst/>
              <a:cxnLst/>
              <a:rect l="l" t="t" r="r" b="b"/>
              <a:pathLst>
                <a:path w="6715760" h="38100">
                  <a:moveTo>
                    <a:pt x="0" y="19050"/>
                  </a:moveTo>
                  <a:cubicBezTo>
                    <a:pt x="0" y="8509"/>
                    <a:pt x="8509" y="0"/>
                    <a:pt x="19050" y="0"/>
                  </a:cubicBezTo>
                  <a:lnTo>
                    <a:pt x="6696710" y="0"/>
                  </a:lnTo>
                  <a:cubicBezTo>
                    <a:pt x="6707251" y="0"/>
                    <a:pt x="6715760" y="8509"/>
                    <a:pt x="6715760" y="19050"/>
                  </a:cubicBezTo>
                  <a:cubicBezTo>
                    <a:pt x="6715760" y="29591"/>
                    <a:pt x="6707251" y="38100"/>
                    <a:pt x="6696710" y="38100"/>
                  </a:cubicBezTo>
                  <a:lnTo>
                    <a:pt x="19050" y="38100"/>
                  </a:lnTo>
                  <a:cubicBezTo>
                    <a:pt x="8509" y="38100"/>
                    <a:pt x="0" y="29591"/>
                    <a:pt x="0" y="19050"/>
                  </a:cubicBezTo>
                  <a:close/>
                </a:path>
              </a:pathLst>
            </a:custGeom>
            <a:solidFill>
              <a:srgbClr val="C8CACF"/>
            </a:solidFill>
          </p:spPr>
        </p:sp>
      </p:grpSp>
      <p:sp>
        <p:nvSpPr>
          <p:cNvPr id="35" name="TextBox 35"/>
          <p:cNvSpPr txBox="1"/>
          <p:nvPr/>
        </p:nvSpPr>
        <p:spPr>
          <a:xfrm>
            <a:off x="6749504" y="6217146"/>
            <a:ext cx="2480816" cy="338584"/>
          </a:xfrm>
          <a:prstGeom prst="rect">
            <a:avLst/>
          </a:prstGeom>
        </p:spPr>
        <p:txBody>
          <a:bodyPr lIns="0" tIns="0" rIns="0" bIns="0" rtlCol="0" anchor="t">
            <a:spAutoFit/>
          </a:bodyPr>
          <a:lstStyle/>
          <a:p>
            <a:pPr algn="l">
              <a:lnSpc>
                <a:spcPts val="2437"/>
              </a:lnSpc>
            </a:pPr>
            <a:r>
              <a:rPr lang="en-US" sz="1937" b="1">
                <a:solidFill>
                  <a:srgbClr val="52586B"/>
                </a:solidFill>
                <a:latin typeface="Arimo Bold"/>
                <a:ea typeface="Arimo Bold"/>
                <a:cs typeface="Arimo Bold"/>
                <a:sym typeface="Arimo Bold"/>
              </a:rPr>
              <a:t>Model Persistence</a:t>
            </a:r>
          </a:p>
        </p:txBody>
      </p:sp>
      <p:sp>
        <p:nvSpPr>
          <p:cNvPr id="36" name="TextBox 36"/>
          <p:cNvSpPr txBox="1"/>
          <p:nvPr/>
        </p:nvSpPr>
        <p:spPr>
          <a:xfrm>
            <a:off x="6749504" y="6687442"/>
            <a:ext cx="4640015" cy="384274"/>
          </a:xfrm>
          <a:prstGeom prst="rect">
            <a:avLst/>
          </a:prstGeom>
        </p:spPr>
        <p:txBody>
          <a:bodyPr lIns="0" tIns="0" rIns="0" bIns="0" rtlCol="0" anchor="t">
            <a:spAutoFit/>
          </a:bodyPr>
          <a:lstStyle/>
          <a:p>
            <a:pPr algn="l">
              <a:lnSpc>
                <a:spcPts val="2499"/>
              </a:lnSpc>
            </a:pPr>
            <a:r>
              <a:rPr lang="en-US" sz="1562">
                <a:solidFill>
                  <a:srgbClr val="52586B"/>
                </a:solidFill>
                <a:latin typeface="Arimo"/>
                <a:ea typeface="Arimo"/>
                <a:cs typeface="Arimo"/>
                <a:sym typeface="Arimo"/>
              </a:rPr>
              <a:t>Managed with joblib for saving/loading.</a:t>
            </a:r>
          </a:p>
        </p:txBody>
      </p:sp>
      <p:sp>
        <p:nvSpPr>
          <p:cNvPr id="37" name="TextBox 37"/>
          <p:cNvSpPr txBox="1"/>
          <p:nvPr/>
        </p:nvSpPr>
        <p:spPr>
          <a:xfrm>
            <a:off x="12090946" y="2703314"/>
            <a:ext cx="4716397" cy="446540"/>
          </a:xfrm>
          <a:prstGeom prst="rect">
            <a:avLst/>
          </a:prstGeom>
        </p:spPr>
        <p:txBody>
          <a:bodyPr lIns="0" tIns="0" rIns="0" bIns="0" rtlCol="0" anchor="t">
            <a:spAutoFit/>
          </a:bodyPr>
          <a:lstStyle/>
          <a:p>
            <a:pPr marL="0" lvl="0" indent="0" algn="l">
              <a:lnSpc>
                <a:spcPts val="3443"/>
              </a:lnSpc>
              <a:spcBef>
                <a:spcPct val="0"/>
              </a:spcBef>
            </a:pPr>
            <a:r>
              <a:rPr lang="en-US" sz="2737" b="1" u="none" strike="noStrike">
                <a:solidFill>
                  <a:srgbClr val="373B48"/>
                </a:solidFill>
                <a:latin typeface="Arimo Bold"/>
                <a:ea typeface="Arimo Bold"/>
                <a:cs typeface="Arimo Bold"/>
                <a:sym typeface="Arimo Bold"/>
              </a:rPr>
              <a:t>Future Enhancements</a:t>
            </a:r>
          </a:p>
        </p:txBody>
      </p:sp>
      <p:grpSp>
        <p:nvGrpSpPr>
          <p:cNvPr id="38" name="Group 38"/>
          <p:cNvGrpSpPr>
            <a:grpSpLocks noChangeAspect="1"/>
          </p:cNvGrpSpPr>
          <p:nvPr/>
        </p:nvGrpSpPr>
        <p:grpSpPr>
          <a:xfrm>
            <a:off x="12090946" y="3274665"/>
            <a:ext cx="595312" cy="1428750"/>
            <a:chOff x="0" y="0"/>
            <a:chExt cx="793750" cy="1905000"/>
          </a:xfrm>
        </p:grpSpPr>
        <p:sp>
          <p:nvSpPr>
            <p:cNvPr id="39" name="Freeform 39" descr="preencoded.png"/>
            <p:cNvSpPr/>
            <p:nvPr/>
          </p:nvSpPr>
          <p:spPr>
            <a:xfrm>
              <a:off x="0" y="0"/>
              <a:ext cx="793750" cy="1905000"/>
            </a:xfrm>
            <a:custGeom>
              <a:avLst/>
              <a:gdLst/>
              <a:ahLst/>
              <a:cxnLst/>
              <a:rect l="l" t="t" r="r" b="b"/>
              <a:pathLst>
                <a:path w="793750" h="1905000">
                  <a:moveTo>
                    <a:pt x="0" y="0"/>
                  </a:moveTo>
                  <a:lnTo>
                    <a:pt x="793750" y="0"/>
                  </a:lnTo>
                  <a:lnTo>
                    <a:pt x="793750" y="1905000"/>
                  </a:lnTo>
                  <a:lnTo>
                    <a:pt x="0" y="1905000"/>
                  </a:lnTo>
                  <a:lnTo>
                    <a:pt x="0" y="0"/>
                  </a:lnTo>
                  <a:close/>
                </a:path>
              </a:pathLst>
            </a:custGeom>
            <a:blipFill>
              <a:blip r:embed="rId6"/>
              <a:stretch>
                <a:fillRect l="-400" r="-400"/>
              </a:stretch>
            </a:blipFill>
          </p:spPr>
        </p:sp>
      </p:grpSp>
      <p:sp>
        <p:nvSpPr>
          <p:cNvPr id="40" name="TextBox 40"/>
          <p:cNvSpPr txBox="1"/>
          <p:nvPr/>
        </p:nvSpPr>
        <p:spPr>
          <a:xfrm>
            <a:off x="12884646" y="3444479"/>
            <a:ext cx="2596306" cy="338584"/>
          </a:xfrm>
          <a:prstGeom prst="rect">
            <a:avLst/>
          </a:prstGeom>
        </p:spPr>
        <p:txBody>
          <a:bodyPr lIns="0" tIns="0" rIns="0" bIns="0" rtlCol="0" anchor="t">
            <a:spAutoFit/>
          </a:bodyPr>
          <a:lstStyle/>
          <a:p>
            <a:pPr algn="l">
              <a:lnSpc>
                <a:spcPts val="2437"/>
              </a:lnSpc>
            </a:pPr>
            <a:r>
              <a:rPr lang="en-US" sz="1937" b="1">
                <a:solidFill>
                  <a:srgbClr val="52586B"/>
                </a:solidFill>
                <a:latin typeface="Arimo Bold"/>
                <a:ea typeface="Arimo Bold"/>
                <a:cs typeface="Arimo Bold"/>
                <a:sym typeface="Arimo Bold"/>
              </a:rPr>
              <a:t>Web App Deployment</a:t>
            </a:r>
          </a:p>
        </p:txBody>
      </p:sp>
      <p:sp>
        <p:nvSpPr>
          <p:cNvPr id="41" name="TextBox 41"/>
          <p:cNvSpPr txBox="1"/>
          <p:nvPr/>
        </p:nvSpPr>
        <p:spPr>
          <a:xfrm>
            <a:off x="12884646" y="3914775"/>
            <a:ext cx="4430018" cy="384274"/>
          </a:xfrm>
          <a:prstGeom prst="rect">
            <a:avLst/>
          </a:prstGeom>
        </p:spPr>
        <p:txBody>
          <a:bodyPr lIns="0" tIns="0" rIns="0" bIns="0" rtlCol="0" anchor="t">
            <a:spAutoFit/>
          </a:bodyPr>
          <a:lstStyle/>
          <a:p>
            <a:pPr algn="l">
              <a:lnSpc>
                <a:spcPts val="2499"/>
              </a:lnSpc>
            </a:pPr>
            <a:r>
              <a:rPr lang="en-US" sz="1562">
                <a:solidFill>
                  <a:srgbClr val="52586B"/>
                </a:solidFill>
                <a:latin typeface="Arimo"/>
                <a:ea typeface="Arimo"/>
                <a:cs typeface="Arimo"/>
                <a:sym typeface="Arimo"/>
              </a:rPr>
              <a:t>Integrate for broader accessibility.</a:t>
            </a:r>
          </a:p>
        </p:txBody>
      </p:sp>
      <p:grpSp>
        <p:nvGrpSpPr>
          <p:cNvPr id="42" name="Group 42"/>
          <p:cNvGrpSpPr>
            <a:grpSpLocks noChangeAspect="1"/>
          </p:cNvGrpSpPr>
          <p:nvPr/>
        </p:nvGrpSpPr>
        <p:grpSpPr>
          <a:xfrm>
            <a:off x="12388602" y="4695825"/>
            <a:ext cx="595312" cy="1428750"/>
            <a:chOff x="0" y="0"/>
            <a:chExt cx="793750" cy="1905000"/>
          </a:xfrm>
        </p:grpSpPr>
        <p:sp>
          <p:nvSpPr>
            <p:cNvPr id="43" name="Freeform 43" descr="preencoded.png"/>
            <p:cNvSpPr/>
            <p:nvPr/>
          </p:nvSpPr>
          <p:spPr>
            <a:xfrm>
              <a:off x="0" y="0"/>
              <a:ext cx="793750" cy="1905000"/>
            </a:xfrm>
            <a:custGeom>
              <a:avLst/>
              <a:gdLst/>
              <a:ahLst/>
              <a:cxnLst/>
              <a:rect l="l" t="t" r="r" b="b"/>
              <a:pathLst>
                <a:path w="793750" h="1905000">
                  <a:moveTo>
                    <a:pt x="0" y="0"/>
                  </a:moveTo>
                  <a:lnTo>
                    <a:pt x="793750" y="0"/>
                  </a:lnTo>
                  <a:lnTo>
                    <a:pt x="793750" y="1905000"/>
                  </a:lnTo>
                  <a:lnTo>
                    <a:pt x="0" y="1905000"/>
                  </a:lnTo>
                  <a:lnTo>
                    <a:pt x="0" y="0"/>
                  </a:lnTo>
                  <a:close/>
                </a:path>
              </a:pathLst>
            </a:custGeom>
            <a:blipFill>
              <a:blip r:embed="rId6"/>
              <a:stretch>
                <a:fillRect l="-400" r="-400"/>
              </a:stretch>
            </a:blipFill>
          </p:spPr>
        </p:sp>
      </p:grpSp>
      <p:sp>
        <p:nvSpPr>
          <p:cNvPr id="44" name="TextBox 44"/>
          <p:cNvSpPr txBox="1"/>
          <p:nvPr/>
        </p:nvSpPr>
        <p:spPr>
          <a:xfrm>
            <a:off x="13182302" y="4865637"/>
            <a:ext cx="2480816" cy="338584"/>
          </a:xfrm>
          <a:prstGeom prst="rect">
            <a:avLst/>
          </a:prstGeom>
        </p:spPr>
        <p:txBody>
          <a:bodyPr lIns="0" tIns="0" rIns="0" bIns="0" rtlCol="0" anchor="t">
            <a:spAutoFit/>
          </a:bodyPr>
          <a:lstStyle/>
          <a:p>
            <a:pPr algn="l">
              <a:lnSpc>
                <a:spcPts val="2437"/>
              </a:lnSpc>
            </a:pPr>
            <a:r>
              <a:rPr lang="en-US" sz="1937" b="1">
                <a:solidFill>
                  <a:srgbClr val="52586B"/>
                </a:solidFill>
                <a:latin typeface="Arimo Bold"/>
                <a:ea typeface="Arimo Bold"/>
                <a:cs typeface="Arimo Bold"/>
                <a:sym typeface="Arimo Bold"/>
              </a:rPr>
              <a:t>Feature Expansion</a:t>
            </a:r>
          </a:p>
        </p:txBody>
      </p:sp>
      <p:sp>
        <p:nvSpPr>
          <p:cNvPr id="45" name="TextBox 45"/>
          <p:cNvSpPr txBox="1"/>
          <p:nvPr/>
        </p:nvSpPr>
        <p:spPr>
          <a:xfrm>
            <a:off x="13182302" y="5335935"/>
            <a:ext cx="4132361" cy="384274"/>
          </a:xfrm>
          <a:prstGeom prst="rect">
            <a:avLst/>
          </a:prstGeom>
        </p:spPr>
        <p:txBody>
          <a:bodyPr lIns="0" tIns="0" rIns="0" bIns="0" rtlCol="0" anchor="t">
            <a:spAutoFit/>
          </a:bodyPr>
          <a:lstStyle/>
          <a:p>
            <a:pPr algn="l">
              <a:lnSpc>
                <a:spcPts val="2499"/>
              </a:lnSpc>
            </a:pPr>
            <a:r>
              <a:rPr lang="en-US" sz="1562">
                <a:solidFill>
                  <a:srgbClr val="52586B"/>
                </a:solidFill>
                <a:latin typeface="Arimo"/>
                <a:ea typeface="Arimo"/>
                <a:cs typeface="Arimo"/>
                <a:sym typeface="Arimo"/>
              </a:rPr>
              <a:t>Incorporate location, skills, and industry data.</a:t>
            </a:r>
          </a:p>
        </p:txBody>
      </p:sp>
      <p:grpSp>
        <p:nvGrpSpPr>
          <p:cNvPr id="46" name="Group 46"/>
          <p:cNvGrpSpPr>
            <a:grpSpLocks noChangeAspect="1"/>
          </p:cNvGrpSpPr>
          <p:nvPr/>
        </p:nvGrpSpPr>
        <p:grpSpPr>
          <a:xfrm>
            <a:off x="12686259" y="6116985"/>
            <a:ext cx="595312" cy="1428750"/>
            <a:chOff x="0" y="0"/>
            <a:chExt cx="793750" cy="1905000"/>
          </a:xfrm>
        </p:grpSpPr>
        <p:sp>
          <p:nvSpPr>
            <p:cNvPr id="47" name="Freeform 47" descr="preencoded.png"/>
            <p:cNvSpPr/>
            <p:nvPr/>
          </p:nvSpPr>
          <p:spPr>
            <a:xfrm>
              <a:off x="0" y="0"/>
              <a:ext cx="793750" cy="1905000"/>
            </a:xfrm>
            <a:custGeom>
              <a:avLst/>
              <a:gdLst/>
              <a:ahLst/>
              <a:cxnLst/>
              <a:rect l="l" t="t" r="r" b="b"/>
              <a:pathLst>
                <a:path w="793750" h="1905000">
                  <a:moveTo>
                    <a:pt x="0" y="0"/>
                  </a:moveTo>
                  <a:lnTo>
                    <a:pt x="793750" y="0"/>
                  </a:lnTo>
                  <a:lnTo>
                    <a:pt x="793750" y="1905000"/>
                  </a:lnTo>
                  <a:lnTo>
                    <a:pt x="0" y="1905000"/>
                  </a:lnTo>
                  <a:lnTo>
                    <a:pt x="0" y="0"/>
                  </a:lnTo>
                  <a:close/>
                </a:path>
              </a:pathLst>
            </a:custGeom>
            <a:blipFill>
              <a:blip r:embed="rId7"/>
              <a:stretch>
                <a:fillRect l="-400" r="-400"/>
              </a:stretch>
            </a:blipFill>
          </p:spPr>
        </p:sp>
      </p:grpSp>
      <p:sp>
        <p:nvSpPr>
          <p:cNvPr id="48" name="TextBox 48"/>
          <p:cNvSpPr txBox="1"/>
          <p:nvPr/>
        </p:nvSpPr>
        <p:spPr>
          <a:xfrm>
            <a:off x="13479959" y="6286797"/>
            <a:ext cx="2480816" cy="338584"/>
          </a:xfrm>
          <a:prstGeom prst="rect">
            <a:avLst/>
          </a:prstGeom>
        </p:spPr>
        <p:txBody>
          <a:bodyPr lIns="0" tIns="0" rIns="0" bIns="0" rtlCol="0" anchor="t">
            <a:spAutoFit/>
          </a:bodyPr>
          <a:lstStyle/>
          <a:p>
            <a:pPr algn="l">
              <a:lnSpc>
                <a:spcPts val="2437"/>
              </a:lnSpc>
            </a:pPr>
            <a:r>
              <a:rPr lang="en-US" sz="1937" b="1">
                <a:solidFill>
                  <a:srgbClr val="52586B"/>
                </a:solidFill>
                <a:latin typeface="Arimo Bold"/>
                <a:ea typeface="Arimo Bold"/>
                <a:cs typeface="Arimo Bold"/>
                <a:sym typeface="Arimo Bold"/>
              </a:rPr>
              <a:t>Advanced Models</a:t>
            </a:r>
          </a:p>
        </p:txBody>
      </p:sp>
      <p:sp>
        <p:nvSpPr>
          <p:cNvPr id="49" name="TextBox 49"/>
          <p:cNvSpPr txBox="1"/>
          <p:nvPr/>
        </p:nvSpPr>
        <p:spPr>
          <a:xfrm>
            <a:off x="13479959" y="6757095"/>
            <a:ext cx="3834705" cy="701874"/>
          </a:xfrm>
          <a:prstGeom prst="rect">
            <a:avLst/>
          </a:prstGeom>
        </p:spPr>
        <p:txBody>
          <a:bodyPr lIns="0" tIns="0" rIns="0" bIns="0" rtlCol="0" anchor="t">
            <a:spAutoFit/>
          </a:bodyPr>
          <a:lstStyle/>
          <a:p>
            <a:pPr algn="l">
              <a:lnSpc>
                <a:spcPts val="2499"/>
              </a:lnSpc>
            </a:pPr>
            <a:r>
              <a:rPr lang="en-US" sz="1562">
                <a:solidFill>
                  <a:srgbClr val="52586B"/>
                </a:solidFill>
                <a:latin typeface="Arimo"/>
                <a:ea typeface="Arimo"/>
                <a:cs typeface="Arimo"/>
                <a:sym typeface="Arimo"/>
              </a:rPr>
              <a:t>Explore deep learning for greater complexity.</a:t>
            </a:r>
          </a:p>
        </p:txBody>
      </p:sp>
      <p:grpSp>
        <p:nvGrpSpPr>
          <p:cNvPr id="50" name="Group 50"/>
          <p:cNvGrpSpPr>
            <a:grpSpLocks noChangeAspect="1"/>
          </p:cNvGrpSpPr>
          <p:nvPr/>
        </p:nvGrpSpPr>
        <p:grpSpPr>
          <a:xfrm>
            <a:off x="12984064" y="7855744"/>
            <a:ext cx="595312" cy="1428750"/>
            <a:chOff x="0" y="0"/>
            <a:chExt cx="793750" cy="1905000"/>
          </a:xfrm>
        </p:grpSpPr>
        <p:sp>
          <p:nvSpPr>
            <p:cNvPr id="51" name="Freeform 51" descr="preencoded.png"/>
            <p:cNvSpPr/>
            <p:nvPr/>
          </p:nvSpPr>
          <p:spPr>
            <a:xfrm>
              <a:off x="0" y="0"/>
              <a:ext cx="793750" cy="1905000"/>
            </a:xfrm>
            <a:custGeom>
              <a:avLst/>
              <a:gdLst/>
              <a:ahLst/>
              <a:cxnLst/>
              <a:rect l="l" t="t" r="r" b="b"/>
              <a:pathLst>
                <a:path w="793750" h="1905000">
                  <a:moveTo>
                    <a:pt x="0" y="0"/>
                  </a:moveTo>
                  <a:lnTo>
                    <a:pt x="793750" y="0"/>
                  </a:lnTo>
                  <a:lnTo>
                    <a:pt x="793750" y="1905000"/>
                  </a:lnTo>
                  <a:lnTo>
                    <a:pt x="0" y="1905000"/>
                  </a:lnTo>
                  <a:lnTo>
                    <a:pt x="0" y="0"/>
                  </a:lnTo>
                  <a:close/>
                </a:path>
              </a:pathLst>
            </a:custGeom>
            <a:blipFill>
              <a:blip r:embed="rId6"/>
              <a:stretch>
                <a:fillRect l="-400" r="-400"/>
              </a:stretch>
            </a:blipFill>
          </p:spPr>
        </p:sp>
      </p:grpSp>
      <p:sp>
        <p:nvSpPr>
          <p:cNvPr id="52" name="TextBox 52"/>
          <p:cNvSpPr txBox="1"/>
          <p:nvPr/>
        </p:nvSpPr>
        <p:spPr>
          <a:xfrm>
            <a:off x="13777764" y="8025556"/>
            <a:ext cx="2682925" cy="338584"/>
          </a:xfrm>
          <a:prstGeom prst="rect">
            <a:avLst/>
          </a:prstGeom>
        </p:spPr>
        <p:txBody>
          <a:bodyPr lIns="0" tIns="0" rIns="0" bIns="0" rtlCol="0" anchor="t">
            <a:spAutoFit/>
          </a:bodyPr>
          <a:lstStyle/>
          <a:p>
            <a:pPr algn="l">
              <a:lnSpc>
                <a:spcPts val="2437"/>
              </a:lnSpc>
            </a:pPr>
            <a:r>
              <a:rPr lang="en-US" sz="1937" b="1">
                <a:solidFill>
                  <a:srgbClr val="52586B"/>
                </a:solidFill>
                <a:latin typeface="Arimo Bold"/>
                <a:ea typeface="Arimo Bold"/>
                <a:cs typeface="Arimo Bold"/>
                <a:sym typeface="Arimo Bold"/>
              </a:rPr>
              <a:t>Interactive Dashboard</a:t>
            </a:r>
          </a:p>
        </p:txBody>
      </p:sp>
      <p:sp>
        <p:nvSpPr>
          <p:cNvPr id="53" name="TextBox 53"/>
          <p:cNvSpPr txBox="1"/>
          <p:nvPr/>
        </p:nvSpPr>
        <p:spPr>
          <a:xfrm>
            <a:off x="13777764" y="8495854"/>
            <a:ext cx="3536900" cy="384274"/>
          </a:xfrm>
          <a:prstGeom prst="rect">
            <a:avLst/>
          </a:prstGeom>
        </p:spPr>
        <p:txBody>
          <a:bodyPr lIns="0" tIns="0" rIns="0" bIns="0" rtlCol="0" anchor="t">
            <a:spAutoFit/>
          </a:bodyPr>
          <a:lstStyle/>
          <a:p>
            <a:pPr algn="l">
              <a:lnSpc>
                <a:spcPts val="2499"/>
              </a:lnSpc>
            </a:pPr>
            <a:r>
              <a:rPr lang="en-US" sz="1562">
                <a:solidFill>
                  <a:srgbClr val="52586B"/>
                </a:solidFill>
                <a:latin typeface="Arimo"/>
                <a:ea typeface="Arimo"/>
                <a:cs typeface="Arimo"/>
                <a:sym typeface="Arimo"/>
              </a:rPr>
              <a:t>Develop for dynamic insights.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850237" y="1751559"/>
            <a:ext cx="7088237" cy="943124"/>
          </a:xfrm>
          <a:prstGeom prst="rect">
            <a:avLst/>
          </a:prstGeom>
        </p:spPr>
        <p:txBody>
          <a:bodyPr lIns="0" tIns="0" rIns="0" bIns="0" rtlCol="0" anchor="t">
            <a:spAutoFit/>
          </a:bodyPr>
          <a:lstStyle/>
          <a:p>
            <a:pPr algn="l">
              <a:lnSpc>
                <a:spcPts val="6937"/>
              </a:lnSpc>
            </a:pPr>
            <a:r>
              <a:rPr lang="en-US" sz="5562" b="1">
                <a:solidFill>
                  <a:srgbClr val="373B48"/>
                </a:solidFill>
                <a:latin typeface="Arimo Bold"/>
                <a:ea typeface="Arimo Bold"/>
                <a:cs typeface="Arimo Bold"/>
                <a:sym typeface="Arimo Bold"/>
              </a:rPr>
              <a:t>Project Conclusion</a:t>
            </a:r>
          </a:p>
        </p:txBody>
      </p:sp>
      <p:sp>
        <p:nvSpPr>
          <p:cNvPr id="9" name="TextBox 9"/>
          <p:cNvSpPr txBox="1"/>
          <p:nvPr/>
        </p:nvSpPr>
        <p:spPr>
          <a:xfrm>
            <a:off x="7850237" y="3015109"/>
            <a:ext cx="9445526" cy="2826544"/>
          </a:xfrm>
          <a:prstGeom prst="rect">
            <a:avLst/>
          </a:prstGeom>
        </p:spPr>
        <p:txBody>
          <a:bodyPr lIns="0" tIns="0" rIns="0" bIns="0" rtlCol="0" anchor="t">
            <a:spAutoFit/>
          </a:bodyPr>
          <a:lstStyle/>
          <a:p>
            <a:pPr algn="l">
              <a:lnSpc>
                <a:spcPts val="3562"/>
              </a:lnSpc>
            </a:pPr>
            <a:r>
              <a:rPr lang="en-US" sz="2187">
                <a:solidFill>
                  <a:srgbClr val="52586B"/>
                </a:solidFill>
                <a:latin typeface="Arimo"/>
                <a:ea typeface="Arimo"/>
                <a:cs typeface="Arimo"/>
                <a:sym typeface="Arimo"/>
              </a:rPr>
              <a:t>This project successfully demonstrates the application of machine learning for salary prediction. While Multiple Linear Regression served as our interpretable foundation, the Random Forest Regressor showcased superior accuracy, guiding our understanding of feature importance. The deployed model provides a reliable tool for forecasting and strategic planning.</a:t>
            </a:r>
          </a:p>
        </p:txBody>
      </p:sp>
      <p:sp>
        <p:nvSpPr>
          <p:cNvPr id="10" name="TextBox 10"/>
          <p:cNvSpPr txBox="1"/>
          <p:nvPr/>
        </p:nvSpPr>
        <p:spPr>
          <a:xfrm>
            <a:off x="8275439" y="6374755"/>
            <a:ext cx="9020324" cy="558404"/>
          </a:xfrm>
          <a:prstGeom prst="rect">
            <a:avLst/>
          </a:prstGeom>
        </p:spPr>
        <p:txBody>
          <a:bodyPr lIns="0" tIns="0" rIns="0" bIns="0" rtlCol="0" anchor="t">
            <a:spAutoFit/>
          </a:bodyPr>
          <a:lstStyle/>
          <a:p>
            <a:pPr algn="l">
              <a:lnSpc>
                <a:spcPts val="3562"/>
              </a:lnSpc>
            </a:pPr>
            <a:r>
              <a:rPr lang="en-US" sz="2187" b="1">
                <a:solidFill>
                  <a:srgbClr val="52586B"/>
                </a:solidFill>
                <a:latin typeface="Arimo Bold"/>
                <a:ea typeface="Arimo Bold"/>
                <a:cs typeface="Arimo Bold"/>
                <a:sym typeface="Arimo Bold"/>
              </a:rPr>
              <a:t>"Data is the new oil, and machine learning is the refinery."</a:t>
            </a:r>
          </a:p>
        </p:txBody>
      </p:sp>
      <p:sp>
        <p:nvSpPr>
          <p:cNvPr id="11" name="TextBox 11"/>
          <p:cNvSpPr txBox="1"/>
          <p:nvPr/>
        </p:nvSpPr>
        <p:spPr>
          <a:xfrm>
            <a:off x="8275439" y="7147323"/>
            <a:ext cx="9020324" cy="1012031"/>
          </a:xfrm>
          <a:prstGeom prst="rect">
            <a:avLst/>
          </a:prstGeom>
        </p:spPr>
        <p:txBody>
          <a:bodyPr lIns="0" tIns="0" rIns="0" bIns="0" rtlCol="0" anchor="t">
            <a:spAutoFit/>
          </a:bodyPr>
          <a:lstStyle/>
          <a:p>
            <a:pPr algn="l">
              <a:lnSpc>
                <a:spcPts val="3562"/>
              </a:lnSpc>
            </a:pPr>
            <a:r>
              <a:rPr lang="en-US" sz="2187">
                <a:solidFill>
                  <a:srgbClr val="52586B"/>
                </a:solidFill>
                <a:latin typeface="Arimo"/>
                <a:ea typeface="Arimo"/>
                <a:cs typeface="Arimo"/>
                <a:sym typeface="Arimo"/>
              </a:rPr>
              <a:t>Our model transforms raw data into actionable insights, providing a valuable resource for various stakeholders.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875</Words>
  <Application>Microsoft Office PowerPoint</Application>
  <PresentationFormat>Custom</PresentationFormat>
  <Paragraphs>126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Arimo Bold</vt:lpstr>
      <vt:lpstr>Arimo</vt:lpstr>
      <vt:lpstr>Arimo Italics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Salary-Prediction-Using-Linear-Regression (1).pptx</dc:title>
  <cp:lastModifiedBy>Urshashi Majumder</cp:lastModifiedBy>
  <cp:revision>2</cp:revision>
  <dcterms:created xsi:type="dcterms:W3CDTF">2006-08-16T00:00:00Z</dcterms:created>
  <dcterms:modified xsi:type="dcterms:W3CDTF">2025-11-15T05:35:49Z</dcterms:modified>
  <dc:identifier>DAG4texINWk</dc:identifier>
</cp:coreProperties>
</file>